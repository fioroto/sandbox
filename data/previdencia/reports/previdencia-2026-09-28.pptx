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stitucional.xpi.com.br/previdencia-privada/lista-de-fundos/#/" TargetMode="External"/><Relationship Id="rId3" Type="http://schemas.openxmlformats.org/officeDocument/2006/relationships/hyperlink" Target="https://investimentos.btgpactual.com/previdencia-privada/produtos" TargetMode="External"/><Relationship Id="rId4" Type="http://schemas.openxmlformats.org/officeDocument/2006/relationships/hyperlink" Target="https://dados.cvm.gov.br/dataset/fi-cad" TargetMode="External"/><Relationship Id="rId5" Type="http://schemas.openxmlformats.org/officeDocument/2006/relationships/hyperlink" Target="https://dados.cvm.gov.br/dataset/fi-doc-inf_diario" TargetMode="External"/><Relationship Id="rId6" Type="http://schemas.openxmlformats.org/officeDocument/2006/relationships/hyperlink" Target="https://dados.cvm.gov.br/dataset/fi-doc-extra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Previdência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28/09/2026 - casas: xp, btg, itau, nu, 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219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Não se aplica a este monitor: cada seguradora distribui pelo próprio veículo (FIE), então o mesmo gestor e a mesma estratégia têm CNPJ diferente em cada casa - em 23/09 as vitrines de XP e BTG dividiam 1 CNPJ (217 só na XP, 225 só no BTG). Gap e exclusividade por CNPJ medem a seguradora, não a oferta; a comparação que vale é por gestora e categoria.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9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08763"/>
                <a:gridCol w="2127738"/>
                <a:gridCol w="212773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Baixa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Indexados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Alta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411326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3894" y="2103120"/>
            <a:ext cx="3452143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36621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70048"/>
            <a:ext cx="279102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1655" y="2670048"/>
            <a:ext cx="501795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112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aplicação mínima - quartis mostram a forma da prateleira; média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8" cy="87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718"/>
                <a:gridCol w="2182090"/>
                <a:gridCol w="2400300"/>
                <a:gridCol w="2182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70662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Custo relativo à categoria não calculado: nenhuma vitrine com cobertura suficiente de taxa comparável. A taxa bruta não entra no lugar dele - entre casas ela mede o mix da prateleira, não o preço do produto.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25/09/2026 -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25/09/2026: XP Investimentos +R$ 17 mi (+0,02% do PL de início), BTG Pactual +R$ 996 mi (+1,99%).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(-R$ 979 mi) vem de Multimercados (-R$ 895 mi).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17520"/>
          <a:ext cx="110642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2489454"/>
                <a:gridCol w="2489454"/>
                <a:gridCol w="27660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+1.138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+1.049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+2.188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Balanceados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-14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-122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-1.017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-1.138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Giant Cash Prev XP Seg FIC FIRF CP 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coleta suspeita - saídas suprimidas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Nu (Nubank)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(linha de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Banco 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primeira coleta (linha de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446 de 450 fundos identificáveis (99%); a gestora vem do registro em 446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ok; vitrine 219 de 224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ok; vitrine 226 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unavailable; vitrine 0 de 0; obs: tabela de rentabilidade não encontrada na página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00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Nu (Nubank)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4009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unavailable; vitrine 0 de 0; obs: Nenhuma vitrine pública de previdência encontrada (2026-09-22).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Banco 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90702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28/09/2026 - status unavailable; vitrine 0 de 0; obs: Nenhuma vitrine pública de previdência encontrada (2026-09-22).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https://institucional.xpi.com.br/previdencia-privada/lista-de-fundos/#/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https://investimentos.btgpactual.com/previdencia-privada/produtos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Cadastro de fundos da CVM</a:t>
            </a:r>
            <a:r>
              <a:rPr sz="1100">
                <a:latin typeface="Calibri"/>
              </a:rPr>
              <a:t> - classificação ANBIMA, gestora e situação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