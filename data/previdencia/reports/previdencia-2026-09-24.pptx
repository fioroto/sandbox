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nstitucional.xpi.com.br/previdencia-privada/lista-de-fundos/#/" TargetMode="External"/><Relationship Id="rId3" Type="http://schemas.openxmlformats.org/officeDocument/2006/relationships/hyperlink" Target="https://investimentos.btgpactual.com/previdencia-privada/produtos" TargetMode="External"/><Relationship Id="rId4" Type="http://schemas.openxmlformats.org/officeDocument/2006/relationships/hyperlink" Target="https://ww15.itau.com.br/privatebank/hotsite/catalogofundos2/tabela_rentabilidade/default.aspx" TargetMode="External"/><Relationship Id="rId5" Type="http://schemas.openxmlformats.org/officeDocument/2006/relationships/hyperlink" Target="https://dados.cvm.gov.br/dataset/fi-cad" TargetMode="External"/><Relationship Id="rId6" Type="http://schemas.openxmlformats.org/officeDocument/2006/relationships/hyperlink" Target="https://dados.cvm.gov.br/dataset/fi-doc-inf_diario" TargetMode="External"/><Relationship Id="rId7" Type="http://schemas.openxmlformats.org/officeDocument/2006/relationships/hyperlink" Target="https://dados.cvm.gov.br/dataset/fi-doc-extrat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920240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Calibri"/>
              </a:rPr>
              <a:t>Previdência privada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2514E"/>
                </a:solidFill>
                <a:latin typeface="Calibri"/>
              </a:rPr>
              <a:t>Leitura competitiva das vitrines de varejo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Coleta de 24/09/2026 - casas: xp, btg, itau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 vitrine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Vitrine = a listagem que o cliente vê na casa; catálogo = tudo que ela administra (Open Finance)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226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226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catálogo: 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0B0B"/>
                </a:solidFill>
                <a:latin typeface="Calibri"/>
              </a:rPr>
              <a:t>Fundos só nesta vitrine (por CNPJ)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98781"/>
                </a:solidFill>
                <a:latin typeface="Calibri"/>
              </a:rPr>
              <a:t>Não se aplica a este monitor: cada seguradora distribui pelo próprio veículo (FIE), então o mesmo gestor e a mesma estratégia têm CNPJ diferente em cada casa - em 23/09 as vitrines de XP e BTG dividiam 1 CNPJ (217 só na XP, 225 só no BTG). Gap e exclusividade por CNPJ medem a seguradora, não a oferta; a comparação que vale é por gestora e categoria.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Matriz vitrine - casa x classe ANBIMA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Classificação oficial (join por CNPJ com o registro CVM); mais escuro = mais fundos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37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10575"/>
                <a:gridCol w="1784554"/>
                <a:gridCol w="1784554"/>
                <a:gridCol w="178455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Classe ANBIMA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Multimercado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>
                    <a:solidFill>
                      <a:srgbClr val="0D36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>
                    <a:solidFill>
                      <a:srgbClr val="6DA7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Ações 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9EC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Livre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Indexados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 Duração Livre Crédito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Data Alvo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Baixa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Crédito Liv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Média Grau de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 Livre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Previdência RF Duração Alta Soberano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CDE2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898781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Arquitetura aberta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Produto de gestora da própria casa vs. de terceiros, na vitrine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6459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Gestora da casa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17320"/>
            <a:ext cx="16459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Terceiros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417320"/>
            <a:ext cx="164592" cy="164592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3441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Sem gestor identificado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4825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XP Investimentos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103120"/>
            <a:ext cx="4113262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83894" y="2103120"/>
            <a:ext cx="3417347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01825" y="2066543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BTG Pactual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670048"/>
            <a:ext cx="2791023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1655" y="2670048"/>
            <a:ext cx="5017952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263347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82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B0B0B"/>
                </a:solidFill>
                <a:latin typeface="Calibri"/>
              </a:rPr>
              <a:t>Itaú Private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236976"/>
            <a:ext cx="146546" cy="2743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17178" y="3236976"/>
            <a:ext cx="1225215" cy="27432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42977" y="32004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2514E"/>
                </a:solidFill>
                <a:latin typeface="Calibr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782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"Gestora da casa" segue a mesma watchlist do radar CVM - a definição é uma só.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Ticket de entrada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Quartis da aplicação mínima - quartis mostram a forma da prateleira; média esconderia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9601198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6718"/>
                <a:gridCol w="2182090"/>
                <a:gridCol w="2400300"/>
                <a:gridCol w="218209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q1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mediano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Mínimo q3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R$ 1.000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B0B0B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999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98781"/>
                </a:solidFill>
                <a:latin typeface="Calibri"/>
              </a:rPr>
              <a:t>Custo relativo à categoria não calculado: nenhuma vitrine com cobertura suficiente de taxa comparável. A taxa bruta não entra no lugar dele - entre casas ela mede o mix da prateleira, não o preço do produto.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Captação dos fundos de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Informe diário da CVM, de 01/07/2026 a 22/09/2026 - fluxo do fundo no mercado inteiro, não só o que entrou por cada casa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Captação líquida dos fundos da vitrine de 01/07/2026 a 22/09/2026: XP Investimentos -R$ 31 mi (-0,04% do PL de início), BTG Pactual +R$ 989 mi (+1,97%). Maior captação entre as casas: BTG Pactual.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0B0B0B"/>
                </a:solidFill>
                <a:latin typeface="Calibri"/>
              </a:rPr>
              <a:t>Por família de ativo, a diferença entre XP Investimentos e BTG Pactual (-R$ 1,0 bi) vem de Multimercados (-R$ 878 mi) e Renda Fixa (-R$ 145 mi).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0B0B"/>
                </a:solidFill>
                <a:latin typeface="Calibri"/>
              </a:rPr>
              <a:t>Por família de ativo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017520"/>
          <a:ext cx="11064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9272"/>
                <a:gridCol w="2489454"/>
                <a:gridCol w="2489454"/>
                <a:gridCol w="276606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Família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Todas as vitrines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Renda Fixa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+1.117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+972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+2.089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Balanceados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-6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+3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Ações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-13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-31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Multimercados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-110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-988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-1.097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Movimentos desde a coleta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Entradas e saídas na vitrine de varejo; coletas suspeitas não geram churn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37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4093"/>
                <a:gridCol w="1177046"/>
                <a:gridCol w="1177046"/>
                <a:gridCol w="63560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Casa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Saídas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2514E"/>
                          </a:solidFill>
                          <a:latin typeface="Calibri"/>
                        </a:rPr>
                        <a:t>Observação / exemplos de entrada</a:t>
                      </a:r>
                    </a:p>
                  </a:txBody>
                  <a:tcPr>
                    <a:solidFill>
                      <a:srgbClr val="F1F0E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XP Investimentos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Itaú Private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B0B0B"/>
                          </a:solidFill>
                          <a:latin typeface="Calibri"/>
                        </a:rPr>
                        <a:t>sem movimentos na vitrine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Metodologia e proveniência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Vitrine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 presente no canal da própria casa (site, API do portal ou área logada). Open Finance = catálogo regulatório, usado para enriquecer e como referência.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385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Perfil de varejo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3852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fundos exclusivos/restritos (5 nesta coleta) ficam fora de toda análise; o inventário deles está na aba 'Restritos (auxiliar)' da planilha 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Precedência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05456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Open Finance &gt; área logada &gt; API do portal &gt; navegador &gt; HTML; fontes que faltam preenchem, nunca sobrescrevem.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723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Normalização ANBIMA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72384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join com o registro oficial CVM por CNPJ e por código: 445 de 449 fundos identificáveis (99%); a gestora vem do registro em 445 deles.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XP Investimentos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39312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218 de 223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BTG Pactual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06240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226 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73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2514E"/>
                </a:solidFill>
                <a:latin typeface="Calibri"/>
              </a:rPr>
              <a:t>Itaú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73168"/>
            <a:ext cx="8778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B0B0B"/>
                </a:solidFill>
                <a:latin typeface="Calibri"/>
              </a:rPr>
              <a:t>24/09/2026 - status ok; vitrine 41 de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0B0B"/>
                </a:solidFill>
                <a:latin typeface="Calibri"/>
              </a:rPr>
              <a:t>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2514E"/>
                </a:solidFill>
                <a:latin typeface="Calibri"/>
              </a:rPr>
              <a:t>Onde conferir cada número - clique no nome para abrir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2"/>
              </a:rPr>
              <a:t>Vitrine - XP Investimentos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https://institucional.xpi.com.br/previdencia-privada/lista-de-fundos/#/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3"/>
              </a:rPr>
              <a:t>Vitrine - BTG Pactual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https://investimentos.btgpactual.com/previdencia-privada/produtos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054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4"/>
              </a:rPr>
              <a:t>Vitrine - Itaú Private</a:t>
            </a:r>
            <a:r>
              <a:rPr sz="1100">
                <a:latin typeface="Calibri"/>
              </a:rPr>
              <a:t> - fundos que a casa exibe ao cliente e as condições publicadas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https://ww15.itau.com.br/privatebank/hotsite/catalogofundos2/tabela_rentabilidade/default.aspx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5"/>
              </a:rPr>
              <a:t>Cadastro de fundos da CVM</a:t>
            </a:r>
            <a:r>
              <a:rPr sz="1100">
                <a:latin typeface="Calibri"/>
              </a:rPr>
              <a:t> - classificação ANBIMA, gestora, situação e o radar de registros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https://dados.cvm.gov.br/dataset/fi-cad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6"/>
              </a:rPr>
              <a:t>Informe diário de fundos da CVM</a:t>
            </a:r>
            <a:r>
              <a:rPr sz="1100">
                <a:latin typeface="Calibri"/>
              </a:rPr>
              <a:t> - captação, resgates, patrimônio, cotistas e cota (rentabilidade)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1363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https://dados.cvm.gov.br/dataset/fi-doc-inf_diario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B0B0B"/>
                </a:solidFill>
                <a:latin typeface="Calibri"/>
                <a:hlinkClick r:id="rId7"/>
              </a:rPr>
              <a:t>Extrato de informações de fundos da CVM</a:t>
            </a:r>
            <a:r>
              <a:rPr sz="1100">
                <a:latin typeface="Calibri"/>
              </a:rPr>
              <a:t> - taxa de administração, mandato e condições de resgate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98781"/>
                </a:solidFill>
                <a:latin typeface="Calibri"/>
              </a:rPr>
              <a:t>https://dados.cvm.gov.br/dataset/fi-doc-extrato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