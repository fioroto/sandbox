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stitucional.xpi.com.br/previdencia-privada/lista-de-fundos/#/" TargetMode="External"/><Relationship Id="rId3" Type="http://schemas.openxmlformats.org/officeDocument/2006/relationships/hyperlink" Target="https://investimentos.btgpactual.com/previdencia-privada/produtos" TargetMode="External"/><Relationship Id="rId4" Type="http://schemas.openxmlformats.org/officeDocument/2006/relationships/hyperlink" Target="https://ww15.itau.com.br/privatebank/hotsite/catalogofundos2/tabela_rentabilidade/default.aspx" TargetMode="External"/><Relationship Id="rId5" Type="http://schemas.openxmlformats.org/officeDocument/2006/relationships/hyperlink" Target="https://dados.cvm.gov.br/dataset/fi-cad" TargetMode="External"/><Relationship Id="rId6" Type="http://schemas.openxmlformats.org/officeDocument/2006/relationships/hyperlink" Target="https://dados.cvm.gov.br/dataset/fi-doc-inf_diario" TargetMode="External"/><Relationship Id="rId7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Previdência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27/09/2026 - casas: xp, btg, itau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Não se aplica a este monitor: cada seguradora distribui pelo próprio veículo (FIE), então o mesmo gestor e a mesma estratégia têm CNPJ diferente em cada casa - em 23/09 as vitrines de XP e BTG dividiam 1 CNPJ (217 só na XP, 225 só no BTG). Gap e exclusividade por CNPJ medem a seguradora, não a oferta; a comparação que vale é por gestora e categoria.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Data 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1734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1825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36976"/>
            <a:ext cx="146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7178" y="3236976"/>
            <a:ext cx="122521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97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aplicação mínima - quartis mostram a forma da prateleira; média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à categoria não calculado: nenhuma vitrine com cobertura suficiente de taxa comparável. A taxa bruta não entra no lugar dele - entre casas ela mede o mix da prateleira, não o preço do produto.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24/09/2026 -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24/09/2026: XP Investimentos +R$ 18 mi (+0,02% do PL de início), BTG Pactual +R$ 996 mi (+1,99%).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(-R$ 979 mi) vem de Multimercados (-R$ 895 mi).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17520"/>
          <a:ext cx="11064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2489454"/>
                <a:gridCol w="2489454"/>
                <a:gridCol w="27660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+1.138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+1.050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+2.188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Balanceados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-122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-1.017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-1.138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445 de 449 fundos identificáveis (99%); a gestora vem do registro em 445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218 de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41 de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https://institucional.xpi.com.br/previdencia-privada/lista-de-fundos/#/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https://investimentos.btgpactual.com/previdencia-privada/produtos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Private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https://ww15.itau.com.br/privatebank/hotsite/catalogofundos2/tabela_rentabilidade/default.aspx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Cadastro de fundos da CVM</a:t>
            </a:r>
            <a:r>
              <a:rPr sz="1100">
                <a:latin typeface="Calibri"/>
              </a:rPr>
              <a:t> - classificação ANBIMA, gestora e situação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