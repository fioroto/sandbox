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institucional.xpi.com.br/previdencia-privada/lista-de-fundos/#/" TargetMode="External"/><Relationship Id="rId3" Type="http://schemas.openxmlformats.org/officeDocument/2006/relationships/hyperlink" Target="https://investimentos.btgpactual.com/previdencia-privada/produtos" TargetMode="External"/><Relationship Id="rId4" Type="http://schemas.openxmlformats.org/officeDocument/2006/relationships/hyperlink" Target="https://ww15.itau.com.br/privatebank/hotsite/catalogofundos2/tabela_rentabilidade/default.aspx" TargetMode="External"/><Relationship Id="rId5" Type="http://schemas.openxmlformats.org/officeDocument/2006/relationships/hyperlink" Target="https://dados.cvm.gov.br/dataset/fi-cad" TargetMode="External"/><Relationship Id="rId6" Type="http://schemas.openxmlformats.org/officeDocument/2006/relationships/hyperlink" Target="https://dados.cvm.gov.br/dataset/fi-doc-inf_diario" TargetMode="External"/><Relationship Id="rId7" Type="http://schemas.openxmlformats.org/officeDocument/2006/relationships/hyperlink" Target="https://dados.cvm.gov.br/dataset/fi-doc-extrato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1920240"/>
            <a:ext cx="1463040" cy="54864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1945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0B0B0B"/>
                </a:solidFill>
                <a:latin typeface="Calibri"/>
              </a:rPr>
              <a:t>Previdência privada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0175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52514E"/>
                </a:solidFill>
                <a:latin typeface="Calibri"/>
              </a:rPr>
              <a:t>Leitura competitiva das vitrines de varejo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8521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898781"/>
                </a:solidFill>
                <a:latin typeface="Calibri"/>
              </a:rPr>
              <a:t>Coleta de 25/09/2026 - casas: xp, btg, itau, nu, inter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B0B0B"/>
                </a:solidFill>
                <a:latin typeface="Calibri"/>
              </a:rPr>
              <a:t>A vitrine em números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2514E"/>
                </a:solidFill>
                <a:latin typeface="Calibri"/>
              </a:rPr>
              <a:t>Vitrine = a listagem que o cliente vê na casa; catálogo = tudo que ela administra (Open Finance)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45920"/>
            <a:ext cx="26060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783080"/>
            <a:ext cx="2240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52514E"/>
                </a:solidFill>
                <a:latin typeface="Calibri"/>
              </a:rPr>
              <a:t>XP INVESTIMENTOS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48840"/>
            <a:ext cx="2240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0B0B"/>
                </a:solidFill>
                <a:latin typeface="Calibri"/>
              </a:rPr>
              <a:t>218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788920"/>
            <a:ext cx="2240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898781"/>
                </a:solidFill>
                <a:latin typeface="Calibri"/>
              </a:rPr>
              <a:t>catálogo: 218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3280" y="1645920"/>
            <a:ext cx="26060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66160" y="1783080"/>
            <a:ext cx="2240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52514E"/>
                </a:solidFill>
                <a:latin typeface="Calibri"/>
              </a:rPr>
              <a:t>BTG PACTUAL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2148840"/>
            <a:ext cx="2240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0B0B"/>
                </a:solidFill>
                <a:latin typeface="Calibri"/>
              </a:rPr>
              <a:t>226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2788920"/>
            <a:ext cx="2240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898781"/>
                </a:solidFill>
                <a:latin typeface="Calibri"/>
              </a:rPr>
              <a:t>catálogo: 226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645920"/>
            <a:ext cx="26060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783080"/>
            <a:ext cx="2240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52514E"/>
                </a:solidFill>
                <a:latin typeface="Calibri"/>
              </a:rPr>
              <a:t>ITAÚ PRIVATE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148840"/>
            <a:ext cx="2240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0B0B"/>
                </a:solidFill>
                <a:latin typeface="Calibri"/>
              </a:rPr>
              <a:t>41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788920"/>
            <a:ext cx="2240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898781"/>
                </a:solidFill>
                <a:latin typeface="Calibri"/>
              </a:rPr>
              <a:t>catálogo: 41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657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B0B0B"/>
                </a:solidFill>
                <a:latin typeface="Calibri"/>
              </a:rPr>
              <a:t>Fundos só nesta vitrine (por CNPJ)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1148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898781"/>
                </a:solidFill>
                <a:latin typeface="Calibri"/>
              </a:rPr>
              <a:t>Não se aplica a este monitor: cada seguradora distribui pelo próprio veículo (FIE), então o mesmo gestor e a mesma estratégia têm CNPJ diferente em cada casa - em 23/09 as vitrines de XP e BTG dividiam 1 CNPJ (217 só na XP, 225 só no BTG). Gap e exclusividade por CNPJ medem a seguradora, não a oferta; a comparação que vale é por gestora e categoria.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B0B0B"/>
                </a:solidFill>
                <a:latin typeface="Calibri"/>
              </a:rPr>
              <a:t>Matriz vitrine - casa x classe ANBIMA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2514E"/>
                </a:solidFill>
                <a:latin typeface="Calibri"/>
              </a:rPr>
              <a:t>Classificação oficial (join por CNPJ com o registro CVM); mais escuro = mais fundos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463040"/>
          <a:ext cx="11064237" cy="380390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710575"/>
                <a:gridCol w="1784554"/>
                <a:gridCol w="1784554"/>
                <a:gridCol w="1784554"/>
              </a:tblGrid>
              <a:tr h="292608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52514E"/>
                          </a:solidFill>
                          <a:latin typeface="Calibri"/>
                        </a:rPr>
                        <a:t>Classe ANBIMA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52514E"/>
                          </a:solidFill>
                          <a:latin typeface="Calibri"/>
                        </a:rPr>
                        <a:t>XP Investimentos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52514E"/>
                          </a:solidFill>
                          <a:latin typeface="Calibri"/>
                        </a:rPr>
                        <a:t>BTG Pactual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52514E"/>
                          </a:solidFill>
                          <a:latin typeface="Calibri"/>
                        </a:rPr>
                        <a:t>Itaú Private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Previdência Multimercado Livre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FFFFFF"/>
                          </a:solidFill>
                          <a:latin typeface="Calibri"/>
                        </a:rPr>
                        <a:t>131</a:t>
                      </a:r>
                    </a:p>
                  </a:txBody>
                  <a:tcPr>
                    <a:solidFill>
                      <a:srgbClr val="0D366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FFFFFF"/>
                          </a:solidFill>
                          <a:latin typeface="Calibri"/>
                        </a:rPr>
                        <a:t>130</a:t>
                      </a:r>
                    </a:p>
                  </a:txBody>
                  <a:tcPr>
                    <a:solidFill>
                      <a:srgbClr val="0D366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16</a:t>
                      </a:r>
                    </a:p>
                  </a:txBody>
                  <a:tcPr>
                    <a:solidFill>
                      <a:srgbClr val="CDE2FB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Previdência RF Duração Livre Crédito Liv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37</a:t>
                      </a:r>
                    </a:p>
                  </a:txBody>
                  <a:tcPr>
                    <a:solidFill>
                      <a:srgbClr val="9EC5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41</a:t>
                      </a:r>
                    </a:p>
                  </a:txBody>
                  <a:tcPr>
                    <a:solidFill>
                      <a:srgbClr val="6DA7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CDE2FB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Previdência Ações Ativo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20</a:t>
                      </a:r>
                    </a:p>
                  </a:txBody>
                  <a:tcPr>
                    <a:solidFill>
                      <a:srgbClr val="9EC5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16</a:t>
                      </a:r>
                    </a:p>
                  </a:txBody>
                  <a:tcPr>
                    <a:solidFill>
                      <a:srgbClr val="CDE2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CDE2FB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Previdência RF Duração Livre Grau de Inv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>
                    <a:solidFill>
                      <a:srgbClr val="CDE2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>
                    <a:solidFill>
                      <a:srgbClr val="CDE2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CDE2FB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Previdência RF Indexados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CDE2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CDE2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>
                    <a:solidFill>
                      <a:srgbClr val="CDE2FB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Renda Fixa Duração Livre Crédito Livre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CDE2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CDE2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89878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Previdência RF Data Alvo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CDE2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89878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>
                    <a:solidFill>
                      <a:srgbClr val="CDE2FB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Previdência RF Duração Baixa Grau de Inv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CDE2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CDE2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CDE2FB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Previdência RF Duração Média Crédito Liv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CDE2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CDE2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89878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Previdência RF Duração Média Grau de Inv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CDE2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CDE2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CDE2FB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Multimercados Livre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CDE2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CDE2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89878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Previdência RF Duração Alta Soberano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CDE2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CDE2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89878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B0B0B"/>
                </a:solidFill>
                <a:latin typeface="Calibri"/>
              </a:rPr>
              <a:t>Arquitetura aberta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2514E"/>
                </a:solidFill>
                <a:latin typeface="Calibri"/>
              </a:rPr>
              <a:t>Produto de gestora da própria casa vs. de terceiros, na vitrine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164592" cy="16459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" y="1344168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2514E"/>
                </a:solidFill>
                <a:latin typeface="Calibri"/>
              </a:rPr>
              <a:t>Gestora da casa</a:t>
            </a:r>
          </a:p>
        </p:txBody>
      </p:sp>
      <p:sp>
        <p:nvSpPr>
          <p:cNvPr id="7" name="Rectangle 6"/>
          <p:cNvSpPr/>
          <p:nvPr/>
        </p:nvSpPr>
        <p:spPr>
          <a:xfrm>
            <a:off x="2926080" y="1417320"/>
            <a:ext cx="164592" cy="164592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182112" y="1344168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2514E"/>
                </a:solidFill>
                <a:latin typeface="Calibri"/>
              </a:rPr>
              <a:t>Terceiros</a:t>
            </a:r>
          </a:p>
        </p:txBody>
      </p:sp>
      <p:sp>
        <p:nvSpPr>
          <p:cNvPr id="9" name="Rectangle 8"/>
          <p:cNvSpPr/>
          <p:nvPr/>
        </p:nvSpPr>
        <p:spPr>
          <a:xfrm>
            <a:off x="5303520" y="1417320"/>
            <a:ext cx="164592" cy="164592"/>
          </a:xfrm>
          <a:prstGeom prst="rect">
            <a:avLst/>
          </a:prstGeom>
          <a:solidFill>
            <a:srgbClr val="E1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59552" y="1344168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2514E"/>
                </a:solidFill>
                <a:latin typeface="Calibri"/>
              </a:rPr>
              <a:t>Sem gestor identificado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048255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0B0B0B"/>
                </a:solidFill>
                <a:latin typeface="Calibri"/>
              </a:rPr>
              <a:t>XP Investimentos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0" y="2103120"/>
            <a:ext cx="4113262" cy="27432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83894" y="2103120"/>
            <a:ext cx="3417347" cy="27432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01825" y="2066543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2514E"/>
                </a:solidFill>
                <a:latin typeface="Calibri"/>
              </a:rPr>
              <a:t>218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2615184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0B0B0B"/>
                </a:solidFill>
                <a:latin typeface="Calibri"/>
              </a:rPr>
              <a:t>BTG Pactual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0" y="2670048"/>
            <a:ext cx="2791023" cy="27432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561655" y="2670048"/>
            <a:ext cx="5017952" cy="27432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680192" y="2633472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2514E"/>
                </a:solidFill>
                <a:latin typeface="Calibri"/>
              </a:rPr>
              <a:t>226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318211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0B0B0B"/>
                </a:solidFill>
                <a:latin typeface="Calibri"/>
              </a:rPr>
              <a:t>Itaú Private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0" y="3236976"/>
            <a:ext cx="146546" cy="27432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917178" y="3236976"/>
            <a:ext cx="1225215" cy="274320"/>
          </a:xfrm>
          <a:prstGeom prst="rect">
            <a:avLst/>
          </a:prstGeom>
          <a:solidFill>
            <a:srgbClr val="E1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42977" y="3200400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2514E"/>
                </a:solidFill>
                <a:latin typeface="Calibri"/>
              </a:rPr>
              <a:t>41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4078224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898781"/>
                </a:solidFill>
                <a:latin typeface="Calibri"/>
              </a:rPr>
              <a:t>"Gestora da casa" segue a mesma watchlist do radar CVM - a definição é uma só.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B0B0B"/>
                </a:solidFill>
                <a:latin typeface="Calibri"/>
              </a:rPr>
              <a:t>Ticket de entrada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2514E"/>
                </a:solidFill>
                <a:latin typeface="Calibri"/>
              </a:rPr>
              <a:t>Quartis da aplicação mínima - quartis mostram a forma da prateleira; média esconderia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554480"/>
          <a:ext cx="9601198" cy="117043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836718"/>
                <a:gridCol w="2182090"/>
                <a:gridCol w="2400300"/>
                <a:gridCol w="2182090"/>
              </a:tblGrid>
              <a:tr h="29260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52514E"/>
                          </a:solidFill>
                          <a:latin typeface="Calibri"/>
                        </a:rPr>
                        <a:t>Casa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52514E"/>
                          </a:solidFill>
                          <a:latin typeface="Calibri"/>
                        </a:rPr>
                        <a:t>Mínimo q1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52514E"/>
                          </a:solidFill>
                          <a:latin typeface="Calibri"/>
                        </a:rPr>
                        <a:t>Mínimo mediano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52514E"/>
                          </a:solidFill>
                          <a:latin typeface="Calibri"/>
                        </a:rPr>
                        <a:t>Mínimo q3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XP Investimentos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R$ 100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R$ 100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R$ 100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BTG Pactual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R$ 1.000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R$ 1.000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R$ 1.000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Itaú Private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299923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898781"/>
                </a:solidFill>
                <a:latin typeface="Calibri"/>
              </a:rPr>
              <a:t>Custo relativo à categoria não calculado: nenhuma vitrine com cobertura suficiente de taxa comparável. A taxa bruta não entra no lugar dele - entre casas ela mede o mix da prateleira, não o preço do produto.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B0B0B"/>
                </a:solidFill>
                <a:latin typeface="Calibri"/>
              </a:rPr>
              <a:t>Captação dos fundos de vitrine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2514E"/>
                </a:solidFill>
                <a:latin typeface="Calibri"/>
              </a:rPr>
              <a:t>Informe diário da CVM, de 01/07/2026 a 23/09/2026 - fluxo do fundo no mercado inteiro, não só o que entrou por cada casa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>
                <a:solidFill>
                  <a:srgbClr val="0B0B0B"/>
                </a:solidFill>
                <a:latin typeface="Calibri"/>
              </a:rPr>
              <a:t>Captação líquida dos fundos da vitrine de 01/07/2026 a 23/09/2026: XP Investimentos +R$ 12 mi (+0,02% do PL de início), BTG Pactual +R$ 1,0 bi (+2,01%). Maior captação entre as casas: BTG Pactual.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96596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>
                <a:solidFill>
                  <a:srgbClr val="0B0B0B"/>
                </a:solidFill>
                <a:latin typeface="Calibri"/>
              </a:rPr>
              <a:t>Por família de ativo, a diferença entre XP Investimentos e BTG Pactual (-R$ 996 mi) vem de Multimercados (-R$ 894 mi) e Renda Fixa (-R$ 106 mi).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517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B0B0B"/>
                </a:solidFill>
                <a:latin typeface="Calibri"/>
              </a:rPr>
              <a:t>Por família de ativo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3017520"/>
          <a:ext cx="11064240" cy="14630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319272"/>
                <a:gridCol w="2489454"/>
                <a:gridCol w="2489454"/>
                <a:gridCol w="2766060"/>
              </a:tblGrid>
              <a:tr h="292608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52514E"/>
                          </a:solidFill>
                          <a:latin typeface="Calibri"/>
                        </a:rPr>
                        <a:t>Família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52514E"/>
                          </a:solidFill>
                          <a:latin typeface="Calibri"/>
                        </a:rPr>
                        <a:t>BTG Pactual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52514E"/>
                          </a:solidFill>
                          <a:latin typeface="Calibri"/>
                        </a:rPr>
                        <a:t>XP Investimentos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52514E"/>
                          </a:solidFill>
                          <a:latin typeface="Calibri"/>
                        </a:rPr>
                        <a:t>Todas as vitrines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Renda Fixa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+1.131 MM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+1.025 MM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+2.156 MM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Balanceados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-6 MM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+3 MM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-3 MM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Ações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-13 MM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-18 MM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-30 MM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Multimercados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-104 MM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-998 MM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-1.102 MM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B0B0B"/>
                </a:solidFill>
                <a:latin typeface="Calibri"/>
              </a:rPr>
              <a:t>Movimentos desde a coleta anterior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2514E"/>
                </a:solidFill>
                <a:latin typeface="Calibri"/>
              </a:rPr>
              <a:t>Entradas e saídas na vitrine de varejo; coletas suspeitas não geram churn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554480"/>
          <a:ext cx="11064237" cy="175564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54093"/>
                <a:gridCol w="1177046"/>
                <a:gridCol w="1177046"/>
                <a:gridCol w="6356052"/>
              </a:tblGrid>
              <a:tr h="292608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52514E"/>
                          </a:solidFill>
                          <a:latin typeface="Calibri"/>
                        </a:rPr>
                        <a:t>Casa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52514E"/>
                          </a:solidFill>
                          <a:latin typeface="Calibri"/>
                        </a:rPr>
                        <a:t>Entradas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52514E"/>
                          </a:solidFill>
                          <a:latin typeface="Calibri"/>
                        </a:rPr>
                        <a:t>Saídas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52514E"/>
                          </a:solidFill>
                          <a:latin typeface="Calibri"/>
                        </a:rPr>
                        <a:t>Observação / exemplos de entrada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XP Investimentos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sem movimentos na vitrine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BTG Pactual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sem movimentos na vitrine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Itaú Private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sem movimentos na vitrine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Nu (Nubank)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primeira coleta (linha de base)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Banco Inter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primeira coleta (linha de base)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B0B0B"/>
                </a:solidFill>
                <a:latin typeface="Calibri"/>
              </a:rPr>
              <a:t>Metodologia e proveniência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52514E"/>
                </a:solidFill>
                <a:latin typeface="Calibri"/>
              </a:rPr>
              <a:t>Vitrine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34640" y="1371600"/>
            <a:ext cx="8778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0B0B0B"/>
                </a:solidFill>
                <a:latin typeface="Calibri"/>
              </a:rPr>
              <a:t>fundo presente no canal da própria casa (site, API do portal ou área logada). Open Finance = catálogo regulatório, usado para enriquecer e como referência.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938528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52514E"/>
                </a:solidFill>
                <a:latin typeface="Calibri"/>
              </a:rPr>
              <a:t>Perfil de varejo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34640" y="1938528"/>
            <a:ext cx="8778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0B0B0B"/>
                </a:solidFill>
                <a:latin typeface="Calibri"/>
              </a:rPr>
              <a:t>fundos exclusivos/restritos (5 nesta coleta) ficam fora de toda análise; o inventário deles está na aba 'Restritos (auxiliar)' da planilha e no dashboard.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505456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52514E"/>
                </a:solidFill>
                <a:latin typeface="Calibri"/>
              </a:rPr>
              <a:t>Precedência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34640" y="2505456"/>
            <a:ext cx="8778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0B0B0B"/>
                </a:solidFill>
                <a:latin typeface="Calibri"/>
              </a:rPr>
              <a:t>Open Finance &gt; área logada &gt; API do portal &gt; navegador &gt; HTML; fontes que faltam preenchem, nunca sobrescrevem.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072384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52514E"/>
                </a:solidFill>
                <a:latin typeface="Calibri"/>
              </a:rPr>
              <a:t>Normalização ANBIMA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0" y="3072384"/>
            <a:ext cx="8778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0B0B0B"/>
                </a:solidFill>
                <a:latin typeface="Calibri"/>
              </a:rPr>
              <a:t>join com o registro oficial CVM por CNPJ e por código: 445 de 449 fundos identificáveis (99%); a gestora vem do registro em 445 deles.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639312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52514E"/>
                </a:solidFill>
                <a:latin typeface="Calibri"/>
              </a:rPr>
              <a:t>XP Investimentos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40" y="3639312"/>
            <a:ext cx="8778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0B0B0B"/>
                </a:solidFill>
                <a:latin typeface="Calibri"/>
              </a:rPr>
              <a:t>25/09/2026 - status ok; vitrine 218 de 223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2062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52514E"/>
                </a:solidFill>
                <a:latin typeface="Calibri"/>
              </a:rPr>
              <a:t>BTG Pactual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34640" y="4206240"/>
            <a:ext cx="8778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0B0B0B"/>
                </a:solidFill>
                <a:latin typeface="Calibri"/>
              </a:rPr>
              <a:t>25/09/2026 - status ok; vitrine 226 de 226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773168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52514E"/>
                </a:solidFill>
                <a:latin typeface="Calibri"/>
              </a:rPr>
              <a:t>Itaú Private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34640" y="4773168"/>
            <a:ext cx="8778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0B0B0B"/>
                </a:solidFill>
                <a:latin typeface="Calibri"/>
              </a:rPr>
              <a:t>25/09/2026 - status ok; vitrine 41 de 41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340096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52514E"/>
                </a:solidFill>
                <a:latin typeface="Calibri"/>
              </a:rPr>
              <a:t>Nu (Nubank)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34640" y="5340096"/>
            <a:ext cx="8778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0B0B0B"/>
                </a:solidFill>
                <a:latin typeface="Calibri"/>
              </a:rPr>
              <a:t>25/09/2026 - status unavailable; vitrine 0 de 0; obs: Nenhuma vitrine pública de previdência encontrada (2026-09-22).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907024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52514E"/>
                </a:solidFill>
                <a:latin typeface="Calibri"/>
              </a:rPr>
              <a:t>Banco Inter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34640" y="5907024"/>
            <a:ext cx="8778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0B0B0B"/>
                </a:solidFill>
                <a:latin typeface="Calibri"/>
              </a:rPr>
              <a:t>25/09/2026 - status unavailable; vitrine 0 de 0; obs: Nenhuma vitrine pública de previdência encontrada (2026-09-22).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B0B0B"/>
                </a:solidFill>
                <a:latin typeface="Calibri"/>
              </a:rPr>
              <a:t>Fontes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2514E"/>
                </a:solidFill>
                <a:latin typeface="Calibri"/>
              </a:rPr>
              <a:t>Onde conferir cada número - clique no nome para abrir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B0B0B"/>
                </a:solidFill>
                <a:latin typeface="Calibri"/>
                <a:hlinkClick r:id="rId2"/>
              </a:rPr>
              <a:t>Vitrine - XP Investimentos</a:t>
            </a:r>
            <a:r>
              <a:rPr sz="1100">
                <a:latin typeface="Calibri"/>
              </a:rPr>
              <a:t> - fundos que a casa exibe ao cliente e as condições publicadas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898781"/>
                </a:solidFill>
                <a:latin typeface="Calibri"/>
              </a:rPr>
              <a:t>https://institucional.xpi.com.br/previdencia-privada/lista-de-fundos/#/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38528"/>
            <a:ext cx="11064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B0B0B"/>
                </a:solidFill>
                <a:latin typeface="Calibri"/>
                <a:hlinkClick r:id="rId3"/>
              </a:rPr>
              <a:t>Vitrine - BTG Pactual</a:t>
            </a:r>
            <a:r>
              <a:rPr sz="1100">
                <a:latin typeface="Calibri"/>
              </a:rPr>
              <a:t> - fundos que a casa exibe ao cliente e as condições publicadas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21284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898781"/>
                </a:solidFill>
                <a:latin typeface="Calibri"/>
              </a:rPr>
              <a:t>https://investimentos.btgpactual.com/previdencia-privada/produtos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505456"/>
            <a:ext cx="11064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B0B0B"/>
                </a:solidFill>
                <a:latin typeface="Calibri"/>
                <a:hlinkClick r:id="rId4"/>
              </a:rPr>
              <a:t>Vitrine - Itaú Private</a:t>
            </a:r>
            <a:r>
              <a:rPr sz="1100">
                <a:latin typeface="Calibri"/>
              </a:rPr>
              <a:t> - fundos que a casa exibe ao cliente e as condições publicadas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779776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898781"/>
                </a:solidFill>
                <a:latin typeface="Calibri"/>
              </a:rPr>
              <a:t>https://ww15.itau.com.br/privatebank/hotsite/catalogofundos2/tabela_rentabilidade/default.aspx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072384"/>
            <a:ext cx="11064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B0B0B"/>
                </a:solidFill>
                <a:latin typeface="Calibri"/>
                <a:hlinkClick r:id="rId5"/>
              </a:rPr>
              <a:t>Cadastro de fundos da CVM</a:t>
            </a:r>
            <a:r>
              <a:rPr sz="1100">
                <a:latin typeface="Calibri"/>
              </a:rPr>
              <a:t> - classificação ANBIMA, gestora, situação e o radar de registros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346704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898781"/>
                </a:solidFill>
                <a:latin typeface="Calibri"/>
              </a:rPr>
              <a:t>https://dados.cvm.gov.br/dataset/fi-cad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639312"/>
            <a:ext cx="11064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B0B0B"/>
                </a:solidFill>
                <a:latin typeface="Calibri"/>
                <a:hlinkClick r:id="rId6"/>
              </a:rPr>
              <a:t>Informe diário de fundos da CVM</a:t>
            </a:r>
            <a:r>
              <a:rPr sz="1100">
                <a:latin typeface="Calibri"/>
              </a:rPr>
              <a:t> - captação, resgates, patrimônio, cotistas e cota (rentabilidade)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913632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898781"/>
                </a:solidFill>
                <a:latin typeface="Calibri"/>
              </a:rPr>
              <a:t>https://dados.cvm.gov.br/dataset/fi-doc-inf_diario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206240"/>
            <a:ext cx="11064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B0B0B"/>
                </a:solidFill>
                <a:latin typeface="Calibri"/>
                <a:hlinkClick r:id="rId7"/>
              </a:rPr>
              <a:t>Extrato de informações de fundos da CVM</a:t>
            </a:r>
            <a:r>
              <a:rPr sz="1100">
                <a:latin typeface="Calibri"/>
              </a:rPr>
              <a:t> - taxa de administração, mandato e condições de resgate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480560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898781"/>
                </a:solidFill>
                <a:latin typeface="Calibri"/>
              </a:rPr>
              <a:t>https://dados.cvm.gov.br/dataset/fi-doc-extrato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