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920240"/>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0"/>
            <a:ext cx="10058400" cy="914400"/>
          </a:xfrm>
          <a:prstGeom prst="rect">
            <a:avLst/>
          </a:prstGeom>
          <a:noFill/>
        </p:spPr>
        <p:txBody>
          <a:bodyPr wrap="square">
            <a:spAutoFit/>
          </a:bodyPr>
          <a:lstStyle/>
          <a:p>
            <a:r>
              <a:rPr sz="4000" b="1">
                <a:solidFill>
                  <a:srgbClr val="0B0B0B"/>
                </a:solidFill>
                <a:latin typeface="Calibri"/>
              </a:rPr>
              <a:t>Prateleiras de fundos</a:t>
            </a:r>
          </a:p>
        </p:txBody>
      </p:sp>
      <p:sp>
        <p:nvSpPr>
          <p:cNvPr id="5" name="TextBox 4"/>
          <p:cNvSpPr txBox="1"/>
          <p:nvPr/>
        </p:nvSpPr>
        <p:spPr>
          <a:xfrm>
            <a:off x="548640" y="3017520"/>
            <a:ext cx="10058400" cy="548640"/>
          </a:xfrm>
          <a:prstGeom prst="rect">
            <a:avLst/>
          </a:prstGeom>
          <a:noFill/>
        </p:spPr>
        <p:txBody>
          <a:bodyPr wrap="square">
            <a:spAutoFit/>
          </a:bodyPr>
          <a:lstStyle/>
          <a:p>
            <a:r>
              <a:rPr sz="1800" b="0">
                <a:solidFill>
                  <a:srgbClr val="52514E"/>
                </a:solidFill>
                <a:latin typeface="Calibri"/>
              </a:rPr>
              <a:t>Leitura competitiva das vitrines de varejo</a:t>
            </a:r>
          </a:p>
        </p:txBody>
      </p:sp>
      <p:sp>
        <p:nvSpPr>
          <p:cNvPr id="6" name="TextBox 5"/>
          <p:cNvSpPr txBox="1"/>
          <p:nvPr/>
        </p:nvSpPr>
        <p:spPr>
          <a:xfrm>
            <a:off x="548640" y="5852160"/>
            <a:ext cx="10058400" cy="365760"/>
          </a:xfrm>
          <a:prstGeom prst="rect">
            <a:avLst/>
          </a:prstGeom>
          <a:noFill/>
        </p:spPr>
        <p:txBody>
          <a:bodyPr wrap="square">
            <a:spAutoFit/>
          </a:bodyPr>
          <a:lstStyle/>
          <a:p>
            <a:r>
              <a:rPr sz="1100" b="0">
                <a:solidFill>
                  <a:srgbClr val="898781"/>
                </a:solidFill>
                <a:latin typeface="Calibri"/>
              </a:rPr>
              <a:t>Coleta de 13/09/2026 - casas: xp, btg, itau, nu, inter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A vitrine em numeros</a:t>
            </a:r>
          </a:p>
        </p:txBody>
      </p:sp>
      <p:sp>
        <p:nvSpPr>
          <p:cNvPr id="4" name="TextBox 3"/>
          <p:cNvSpPr txBox="1"/>
          <p:nvPr/>
        </p:nvSpPr>
        <p:spPr>
          <a:xfrm>
            <a:off x="548640" y="868680"/>
            <a:ext cx="11064240" cy="457200"/>
          </a:xfrm>
          <a:prstGeom prst="rect">
            <a:avLst/>
          </a:prstGeom>
          <a:noFill/>
        </p:spPr>
        <p:txBody>
          <a:bodyPr wrap="square">
            <a:spAutoFit/>
          </a:bodyPr>
          <a:lstStyle/>
          <a:p>
            <a:r>
              <a:rPr sz="1200" b="0">
                <a:solidFill>
                  <a:srgbClr val="52514E"/>
                </a:solidFill>
                <a:latin typeface="Calibri"/>
              </a:rPr>
              <a:t>Vitrine = a listagem que o cliente ve na casa; catalogo = tudo que ela administra (Open Finance)</a:t>
            </a:r>
          </a:p>
        </p:txBody>
      </p:sp>
      <p:sp>
        <p:nvSpPr>
          <p:cNvPr id="5" name="Rectangle 4"/>
          <p:cNvSpPr/>
          <p:nvPr/>
        </p:nvSpPr>
        <p:spPr>
          <a:xfrm>
            <a:off x="548640" y="1645920"/>
            <a:ext cx="2606040" cy="1554480"/>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2240280" cy="320040"/>
          </a:xfrm>
          <a:prstGeom prst="rect">
            <a:avLst/>
          </a:prstGeom>
          <a:noFill/>
        </p:spPr>
        <p:txBody>
          <a:bodyPr wrap="square">
            <a:spAutoFit/>
          </a:bodyPr>
          <a:lstStyle/>
          <a:p>
            <a:r>
              <a:rPr sz="1050" b="0">
                <a:solidFill>
                  <a:srgbClr val="52514E"/>
                </a:solidFill>
                <a:latin typeface="Calibri"/>
              </a:rPr>
              <a:t>BANCO INTER</a:t>
            </a:r>
          </a:p>
        </p:txBody>
      </p:sp>
      <p:sp>
        <p:nvSpPr>
          <p:cNvPr id="7" name="TextBox 6"/>
          <p:cNvSpPr txBox="1"/>
          <p:nvPr/>
        </p:nvSpPr>
        <p:spPr>
          <a:xfrm>
            <a:off x="731520" y="2148840"/>
            <a:ext cx="2240280" cy="640080"/>
          </a:xfrm>
          <a:prstGeom prst="rect">
            <a:avLst/>
          </a:prstGeom>
          <a:noFill/>
        </p:spPr>
        <p:txBody>
          <a:bodyPr wrap="square">
            <a:spAutoFit/>
          </a:bodyPr>
          <a:lstStyle/>
          <a:p>
            <a:r>
              <a:rPr sz="3000" b="1">
                <a:solidFill>
                  <a:srgbClr val="0B0B0B"/>
                </a:solidFill>
                <a:latin typeface="Calibri"/>
              </a:rPr>
              <a:t>466</a:t>
            </a:r>
          </a:p>
        </p:txBody>
      </p:sp>
      <p:sp>
        <p:nvSpPr>
          <p:cNvPr id="8" name="TextBox 7"/>
          <p:cNvSpPr txBox="1"/>
          <p:nvPr/>
        </p:nvSpPr>
        <p:spPr>
          <a:xfrm>
            <a:off x="731520" y="2788920"/>
            <a:ext cx="2240280" cy="320040"/>
          </a:xfrm>
          <a:prstGeom prst="rect">
            <a:avLst/>
          </a:prstGeom>
          <a:noFill/>
        </p:spPr>
        <p:txBody>
          <a:bodyPr wrap="square">
            <a:spAutoFit/>
          </a:bodyPr>
          <a:lstStyle/>
          <a:p>
            <a:r>
              <a:rPr sz="1000" b="0">
                <a:solidFill>
                  <a:srgbClr val="898781"/>
                </a:solidFill>
                <a:latin typeface="Calibri"/>
              </a:rPr>
              <a:t>catalogo: 466</a:t>
            </a:r>
          </a:p>
        </p:txBody>
      </p:sp>
      <p:sp>
        <p:nvSpPr>
          <p:cNvPr id="9" name="TextBox 8"/>
          <p:cNvSpPr txBox="1"/>
          <p:nvPr/>
        </p:nvSpPr>
        <p:spPr>
          <a:xfrm>
            <a:off x="548640" y="3657600"/>
            <a:ext cx="10972800" cy="365760"/>
          </a:xfrm>
          <a:prstGeom prst="rect">
            <a:avLst/>
          </a:prstGeom>
          <a:noFill/>
        </p:spPr>
        <p:txBody>
          <a:bodyPr wrap="square">
            <a:spAutoFit/>
          </a:bodyPr>
          <a:lstStyle/>
          <a:p>
            <a:r>
              <a:rPr sz="1400" b="1">
                <a:solidFill>
                  <a:srgbClr val="0B0B0B"/>
                </a:solidFill>
                <a:latin typeface="Calibri"/>
              </a:rPr>
              <a:t>Diferenciais na vitrine (por CNPJ)</a:t>
            </a:r>
          </a:p>
        </p:txBody>
      </p:sp>
      <p:graphicFrame>
        <p:nvGraphicFramePr>
          <p:cNvPr id="10" name="Table 9"/>
          <p:cNvGraphicFramePr>
            <a:graphicFrameLocks noGrp="1"/>
          </p:cNvGraphicFramePr>
          <p:nvPr/>
        </p:nvGraphicFramePr>
        <p:xfrm>
          <a:off x="548640" y="4114800"/>
          <a:ext cx="5943600" cy="585216"/>
        </p:xfrm>
        <a:graphic>
          <a:graphicData uri="http://schemas.openxmlformats.org/drawingml/2006/table">
            <a:tbl>
              <a:tblPr>
                <a:tableStyleId>{5C22544A-7EE6-4342-B048-85BDC9FD1C3A}</a:tableStyleId>
              </a:tblPr>
              <a:tblGrid>
                <a:gridCol w="2377440"/>
                <a:gridCol w="3566160"/>
              </a:tblGrid>
              <a:tr h="292608">
                <a:tc>
                  <a:txBody>
                    <a:bodyPr wrap="square"/>
                    <a:lstStyle/>
                    <a:p>
                      <a:r>
                        <a:rPr sz="1100" b="1">
                          <a:solidFill>
                            <a:srgbClr val="52514E"/>
                          </a:solidFill>
                          <a:latin typeface="Calibri"/>
                        </a:rPr>
                        <a:t>Casa</a:t>
                      </a:r>
                    </a:p>
                  </a:txBody>
                  <a:tcPr>
                    <a:solidFill>
                      <a:srgbClr val="F1F0EC"/>
                    </a:solidFill>
                  </a:tcPr>
                </a:tc>
                <a:tc>
                  <a:txBody>
                    <a:bodyPr wrap="square"/>
                    <a:lstStyle/>
                    <a:p>
                      <a:r>
                        <a:rPr sz="1100" b="1">
                          <a:solidFill>
                            <a:srgbClr val="52514E"/>
                          </a:solidFill>
                          <a:latin typeface="Calibri"/>
                        </a:rPr>
                        <a:t>Fundos de varejo que so ela oferta</a:t>
                      </a:r>
                    </a:p>
                  </a:txBody>
                  <a:tcPr>
                    <a:solidFill>
                      <a:srgbClr val="F1F0EC"/>
                    </a:solidFill>
                  </a:tcPr>
                </a:tc>
              </a:tr>
              <a:tr h="292608">
                <a:tc>
                  <a:txBody>
                    <a:bodyPr wrap="square"/>
                    <a:lstStyle/>
                    <a:p>
                      <a:r>
                        <a:rPr sz="1100" b="0">
                          <a:solidFill>
                            <a:srgbClr val="0B0B0B"/>
                          </a:solidFill>
                          <a:latin typeface="Calibri"/>
                        </a:rPr>
                        <a:t>Banco Inter</a:t>
                      </a:r>
                    </a:p>
                  </a:txBody>
                  <a:tcPr>
                    <a:solidFill>
                      <a:srgbClr val="FFFFFF"/>
                    </a:solidFill>
                  </a:tcPr>
                </a:tc>
                <a:tc>
                  <a:txBody>
                    <a:bodyPr wrap="square"/>
                    <a:lstStyle/>
                    <a:p>
                      <a:r>
                        <a:rPr sz="1100" b="0">
                          <a:solidFill>
                            <a:srgbClr val="0B0B0B"/>
                          </a:solidFill>
                          <a:latin typeface="Calibri"/>
                        </a:rPr>
                        <a:t>463</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Matriz vitrine - casa x classe ANBIMA</a:t>
            </a:r>
          </a:p>
        </p:txBody>
      </p:sp>
      <p:sp>
        <p:nvSpPr>
          <p:cNvPr id="4" name="TextBox 3"/>
          <p:cNvSpPr txBox="1"/>
          <p:nvPr/>
        </p:nvSpPr>
        <p:spPr>
          <a:xfrm>
            <a:off x="548640" y="868680"/>
            <a:ext cx="11064240" cy="457200"/>
          </a:xfrm>
          <a:prstGeom prst="rect">
            <a:avLst/>
          </a:prstGeom>
          <a:noFill/>
        </p:spPr>
        <p:txBody>
          <a:bodyPr wrap="square">
            <a:spAutoFit/>
          </a:bodyPr>
          <a:lstStyle/>
          <a:p>
            <a:r>
              <a:rPr sz="1200" b="0">
                <a:solidFill>
                  <a:srgbClr val="52514E"/>
                </a:solidFill>
                <a:latin typeface="Calibri"/>
              </a:rPr>
              <a:t>Classificacao oficial (join por CNPJ com o registro CVM); mais escuro = mais fundos</a:t>
            </a:r>
          </a:p>
        </p:txBody>
      </p:sp>
      <p:graphicFrame>
        <p:nvGraphicFramePr>
          <p:cNvPr id="5" name="Table 4"/>
          <p:cNvGraphicFramePr>
            <a:graphicFrameLocks noGrp="1"/>
          </p:cNvGraphicFramePr>
          <p:nvPr/>
        </p:nvGraphicFramePr>
        <p:xfrm>
          <a:off x="548640" y="1463040"/>
          <a:ext cx="11064239" cy="3803904"/>
        </p:xfrm>
        <a:graphic>
          <a:graphicData uri="http://schemas.openxmlformats.org/drawingml/2006/table">
            <a:tbl>
              <a:tblPr>
                <a:tableStyleId>{5C22544A-7EE6-4342-B048-85BDC9FD1C3A}</a:tableStyleId>
              </a:tblPr>
              <a:tblGrid>
                <a:gridCol w="8429897"/>
                <a:gridCol w="2634342"/>
              </a:tblGrid>
              <a:tr h="292608">
                <a:tc>
                  <a:txBody>
                    <a:bodyPr wrap="square"/>
                    <a:lstStyle/>
                    <a:p>
                      <a:r>
                        <a:rPr sz="1000" b="1">
                          <a:solidFill>
                            <a:srgbClr val="52514E"/>
                          </a:solidFill>
                          <a:latin typeface="Calibri"/>
                        </a:rPr>
                        <a:t>Classe ANBIMA</a:t>
                      </a:r>
                    </a:p>
                  </a:txBody>
                  <a:tcPr>
                    <a:solidFill>
                      <a:srgbClr val="F1F0EC"/>
                    </a:solidFill>
                  </a:tcPr>
                </a:tc>
                <a:tc>
                  <a:txBody>
                    <a:bodyPr wrap="square"/>
                    <a:lstStyle/>
                    <a:p>
                      <a:r>
                        <a:rPr sz="1000" b="1">
                          <a:solidFill>
                            <a:srgbClr val="52514E"/>
                          </a:solidFill>
                          <a:latin typeface="Calibri"/>
                        </a:rPr>
                        <a:t>Banco Inter</a:t>
                      </a:r>
                    </a:p>
                  </a:txBody>
                  <a:tcPr>
                    <a:solidFill>
                      <a:srgbClr val="F1F0EC"/>
                    </a:solidFill>
                  </a:tcPr>
                </a:tc>
              </a:tr>
              <a:tr h="292608">
                <a:tc>
                  <a:txBody>
                    <a:bodyPr wrap="square"/>
                    <a:lstStyle/>
                    <a:p>
                      <a:r>
                        <a:rPr sz="1000" b="0">
                          <a:solidFill>
                            <a:srgbClr val="0B0B0B"/>
                          </a:solidFill>
                          <a:latin typeface="Calibri"/>
                        </a:rPr>
                        <a:t>Ações Livre</a:t>
                      </a:r>
                    </a:p>
                  </a:txBody>
                  <a:tcPr>
                    <a:solidFill>
                      <a:srgbClr val="FFFFFF"/>
                    </a:solidFill>
                  </a:tcPr>
                </a:tc>
                <a:tc>
                  <a:txBody>
                    <a:bodyPr wrap="square"/>
                    <a:lstStyle/>
                    <a:p>
                      <a:r>
                        <a:rPr sz="1000" b="0">
                          <a:solidFill>
                            <a:srgbClr val="FFFFFF"/>
                          </a:solidFill>
                          <a:latin typeface="Calibri"/>
                        </a:rPr>
                        <a:t>89</a:t>
                      </a:r>
                    </a:p>
                  </a:txBody>
                  <a:tcPr>
                    <a:solidFill>
                      <a:srgbClr val="0D366B"/>
                    </a:solidFill>
                  </a:tcPr>
                </a:tc>
              </a:tr>
              <a:tr h="292608">
                <a:tc>
                  <a:txBody>
                    <a:bodyPr wrap="square"/>
                    <a:lstStyle/>
                    <a:p>
                      <a:r>
                        <a:rPr sz="1000" b="0">
                          <a:solidFill>
                            <a:srgbClr val="0B0B0B"/>
                          </a:solidFill>
                          <a:latin typeface="Calibri"/>
                        </a:rPr>
                        <a:t>Multimercados Livre</a:t>
                      </a:r>
                    </a:p>
                  </a:txBody>
                  <a:tcPr>
                    <a:solidFill>
                      <a:srgbClr val="FFFFFF"/>
                    </a:solidFill>
                  </a:tcPr>
                </a:tc>
                <a:tc>
                  <a:txBody>
                    <a:bodyPr wrap="square"/>
                    <a:lstStyle/>
                    <a:p>
                      <a:r>
                        <a:rPr sz="1000" b="0">
                          <a:solidFill>
                            <a:srgbClr val="FFFFFF"/>
                          </a:solidFill>
                          <a:latin typeface="Calibri"/>
                        </a:rPr>
                        <a:t>63</a:t>
                      </a:r>
                    </a:p>
                  </a:txBody>
                  <a:tcPr>
                    <a:solidFill>
                      <a:srgbClr val="256ABF"/>
                    </a:solidFill>
                  </a:tcPr>
                </a:tc>
              </a:tr>
              <a:tr h="292608">
                <a:tc>
                  <a:txBody>
                    <a:bodyPr wrap="square"/>
                    <a:lstStyle/>
                    <a:p>
                      <a:r>
                        <a:rPr sz="1000" b="0">
                          <a:solidFill>
                            <a:srgbClr val="0B0B0B"/>
                          </a:solidFill>
                          <a:latin typeface="Calibri"/>
                        </a:rPr>
                        <a:t>Multimercado</a:t>
                      </a:r>
                    </a:p>
                  </a:txBody>
                  <a:tcPr>
                    <a:solidFill>
                      <a:srgbClr val="FFFFFF"/>
                    </a:solidFill>
                  </a:tcPr>
                </a:tc>
                <a:tc>
                  <a:txBody>
                    <a:bodyPr wrap="square"/>
                    <a:lstStyle/>
                    <a:p>
                      <a:r>
                        <a:rPr sz="1000" b="0">
                          <a:solidFill>
                            <a:srgbClr val="FFFFFF"/>
                          </a:solidFill>
                          <a:latin typeface="Calibri"/>
                        </a:rPr>
                        <a:t>49</a:t>
                      </a:r>
                    </a:p>
                  </a:txBody>
                  <a:tcPr>
                    <a:solidFill>
                      <a:srgbClr val="3987E5"/>
                    </a:solidFill>
                  </a:tcPr>
                </a:tc>
              </a:tr>
              <a:tr h="292608">
                <a:tc>
                  <a:txBody>
                    <a:bodyPr wrap="square"/>
                    <a:lstStyle/>
                    <a:p>
                      <a:r>
                        <a:rPr sz="1000" b="0">
                          <a:solidFill>
                            <a:srgbClr val="0B0B0B"/>
                          </a:solidFill>
                          <a:latin typeface="Calibri"/>
                        </a:rPr>
                        <a:t>Multimercados Macro</a:t>
                      </a:r>
                    </a:p>
                  </a:txBody>
                  <a:tcPr>
                    <a:solidFill>
                      <a:srgbClr val="FFFFFF"/>
                    </a:solidFill>
                  </a:tcPr>
                </a:tc>
                <a:tc>
                  <a:txBody>
                    <a:bodyPr wrap="square"/>
                    <a:lstStyle/>
                    <a:p>
                      <a:r>
                        <a:rPr sz="1000" b="0">
                          <a:solidFill>
                            <a:srgbClr val="FFFFFF"/>
                          </a:solidFill>
                          <a:latin typeface="Calibri"/>
                        </a:rPr>
                        <a:t>42</a:t>
                      </a:r>
                    </a:p>
                  </a:txBody>
                  <a:tcPr>
                    <a:solidFill>
                      <a:srgbClr val="3987E5"/>
                    </a:solidFill>
                  </a:tcPr>
                </a:tc>
              </a:tr>
              <a:tr h="292608">
                <a:tc>
                  <a:txBody>
                    <a:bodyPr wrap="square"/>
                    <a:lstStyle/>
                    <a:p>
                      <a:r>
                        <a:rPr sz="1000" b="0">
                          <a:solidFill>
                            <a:srgbClr val="0B0B0B"/>
                          </a:solidFill>
                          <a:latin typeface="Calibri"/>
                        </a:rPr>
                        <a:t>Acoes</a:t>
                      </a:r>
                    </a:p>
                  </a:txBody>
                  <a:tcPr>
                    <a:solidFill>
                      <a:srgbClr val="FFFFFF"/>
                    </a:solidFill>
                  </a:tcPr>
                </a:tc>
                <a:tc>
                  <a:txBody>
                    <a:bodyPr wrap="square"/>
                    <a:lstStyle/>
                    <a:p>
                      <a:r>
                        <a:rPr sz="1000" b="0">
                          <a:solidFill>
                            <a:srgbClr val="0B0B0B"/>
                          </a:solidFill>
                          <a:latin typeface="Calibri"/>
                        </a:rPr>
                        <a:t>30</a:t>
                      </a:r>
                    </a:p>
                  </a:txBody>
                  <a:tcPr>
                    <a:solidFill>
                      <a:srgbClr val="6DA7EC"/>
                    </a:solidFill>
                  </a:tcPr>
                </a:tc>
              </a:tr>
              <a:tr h="292608">
                <a:tc>
                  <a:txBody>
                    <a:bodyPr wrap="square"/>
                    <a:lstStyle/>
                    <a:p>
                      <a:r>
                        <a:rPr sz="1000" b="0">
                          <a:solidFill>
                            <a:srgbClr val="0B0B0B"/>
                          </a:solidFill>
                          <a:latin typeface="Calibri"/>
                        </a:rPr>
                        <a:t>Renda Fixa Duração Livre Crédito Livre</a:t>
                      </a:r>
                    </a:p>
                  </a:txBody>
                  <a:tcPr>
                    <a:solidFill>
                      <a:srgbClr val="FFFFFF"/>
                    </a:solidFill>
                  </a:tcPr>
                </a:tc>
                <a:tc>
                  <a:txBody>
                    <a:bodyPr wrap="square"/>
                    <a:lstStyle/>
                    <a:p>
                      <a:r>
                        <a:rPr sz="1000" b="0">
                          <a:solidFill>
                            <a:srgbClr val="0B0B0B"/>
                          </a:solidFill>
                          <a:latin typeface="Calibri"/>
                        </a:rPr>
                        <a:t>27</a:t>
                      </a:r>
                    </a:p>
                  </a:txBody>
                  <a:tcPr>
                    <a:solidFill>
                      <a:srgbClr val="6DA7EC"/>
                    </a:solidFill>
                  </a:tcPr>
                </a:tc>
              </a:tr>
              <a:tr h="292608">
                <a:tc>
                  <a:txBody>
                    <a:bodyPr wrap="square"/>
                    <a:lstStyle/>
                    <a:p>
                      <a:r>
                        <a:rPr sz="1000" b="0">
                          <a:solidFill>
                            <a:srgbClr val="0B0B0B"/>
                          </a:solidFill>
                          <a:latin typeface="Calibri"/>
                        </a:rPr>
                        <a:t>Renda Fixa Duração Livre Grau de Invest.</a:t>
                      </a:r>
                    </a:p>
                  </a:txBody>
                  <a:tcPr>
                    <a:solidFill>
                      <a:srgbClr val="FFFFFF"/>
                    </a:solidFill>
                  </a:tcPr>
                </a:tc>
                <a:tc>
                  <a:txBody>
                    <a:bodyPr wrap="square"/>
                    <a:lstStyle/>
                    <a:p>
                      <a:r>
                        <a:rPr sz="1000" b="0">
                          <a:solidFill>
                            <a:srgbClr val="0B0B0B"/>
                          </a:solidFill>
                          <a:latin typeface="Calibri"/>
                        </a:rPr>
                        <a:t>23</a:t>
                      </a:r>
                    </a:p>
                  </a:txBody>
                  <a:tcPr>
                    <a:solidFill>
                      <a:srgbClr val="9EC5F4"/>
                    </a:solidFill>
                  </a:tcPr>
                </a:tc>
              </a:tr>
              <a:tr h="292608">
                <a:tc>
                  <a:txBody>
                    <a:bodyPr wrap="square"/>
                    <a:lstStyle/>
                    <a:p>
                      <a:r>
                        <a:rPr sz="1000" b="0">
                          <a:solidFill>
                            <a:srgbClr val="0B0B0B"/>
                          </a:solidFill>
                          <a:latin typeface="Calibri"/>
                        </a:rPr>
                        <a:t>Renda Fixa Duração Baixa Grau de Invest.</a:t>
                      </a:r>
                    </a:p>
                  </a:txBody>
                  <a:tcPr>
                    <a:solidFill>
                      <a:srgbClr val="FFFFFF"/>
                    </a:solidFill>
                  </a:tcPr>
                </a:tc>
                <a:tc>
                  <a:txBody>
                    <a:bodyPr wrap="square"/>
                    <a:lstStyle/>
                    <a:p>
                      <a:r>
                        <a:rPr sz="1000" b="0">
                          <a:solidFill>
                            <a:srgbClr val="0B0B0B"/>
                          </a:solidFill>
                          <a:latin typeface="Calibri"/>
                        </a:rPr>
                        <a:t>19</a:t>
                      </a:r>
                    </a:p>
                  </a:txBody>
                  <a:tcPr>
                    <a:solidFill>
                      <a:srgbClr val="9EC5F4"/>
                    </a:solidFill>
                  </a:tcPr>
                </a:tc>
              </a:tr>
              <a:tr h="292608">
                <a:tc>
                  <a:txBody>
                    <a:bodyPr wrap="square"/>
                    <a:lstStyle/>
                    <a:p>
                      <a:r>
                        <a:rPr sz="1000" b="0">
                          <a:solidFill>
                            <a:srgbClr val="0B0B0B"/>
                          </a:solidFill>
                          <a:latin typeface="Calibri"/>
                        </a:rPr>
                        <a:t>Multimercados Estrat. Específica</a:t>
                      </a:r>
                    </a:p>
                  </a:txBody>
                  <a:tcPr>
                    <a:solidFill>
                      <a:srgbClr val="FFFFFF"/>
                    </a:solidFill>
                  </a:tcPr>
                </a:tc>
                <a:tc>
                  <a:txBody>
                    <a:bodyPr wrap="square"/>
                    <a:lstStyle/>
                    <a:p>
                      <a:r>
                        <a:rPr sz="1000" b="0">
                          <a:solidFill>
                            <a:srgbClr val="0B0B0B"/>
                          </a:solidFill>
                          <a:latin typeface="Calibri"/>
                        </a:rPr>
                        <a:t>16</a:t>
                      </a:r>
                    </a:p>
                  </a:txBody>
                  <a:tcPr>
                    <a:solidFill>
                      <a:srgbClr val="9EC5F4"/>
                    </a:solidFill>
                  </a:tcPr>
                </a:tc>
              </a:tr>
              <a:tr h="292608">
                <a:tc>
                  <a:txBody>
                    <a:bodyPr wrap="square"/>
                    <a:lstStyle/>
                    <a:p>
                      <a:r>
                        <a:rPr sz="1000" b="0">
                          <a:solidFill>
                            <a:srgbClr val="0B0B0B"/>
                          </a:solidFill>
                          <a:latin typeface="Calibri"/>
                        </a:rPr>
                        <a:t>Ações Invest. no Exterior</a:t>
                      </a:r>
                    </a:p>
                  </a:txBody>
                  <a:tcPr>
                    <a:solidFill>
                      <a:srgbClr val="FFFFFF"/>
                    </a:solidFill>
                  </a:tcPr>
                </a:tc>
                <a:tc>
                  <a:txBody>
                    <a:bodyPr wrap="square"/>
                    <a:lstStyle/>
                    <a:p>
                      <a:r>
                        <a:rPr sz="1000" b="0">
                          <a:solidFill>
                            <a:srgbClr val="0B0B0B"/>
                          </a:solidFill>
                          <a:latin typeface="Calibri"/>
                        </a:rPr>
                        <a:t>13</a:t>
                      </a:r>
                    </a:p>
                  </a:txBody>
                  <a:tcPr>
                    <a:solidFill>
                      <a:srgbClr val="9EC5F4"/>
                    </a:solidFill>
                  </a:tcPr>
                </a:tc>
              </a:tr>
              <a:tr h="292608">
                <a:tc>
                  <a:txBody>
                    <a:bodyPr wrap="square"/>
                    <a:lstStyle/>
                    <a:p>
                      <a:r>
                        <a:rPr sz="1000" b="0">
                          <a:solidFill>
                            <a:srgbClr val="0B0B0B"/>
                          </a:solidFill>
                          <a:latin typeface="Calibri"/>
                        </a:rPr>
                        <a:t>Multimercados Invest. no Exterior</a:t>
                      </a:r>
                    </a:p>
                  </a:txBody>
                  <a:tcPr>
                    <a:solidFill>
                      <a:srgbClr val="FFFFFF"/>
                    </a:solidFill>
                  </a:tcPr>
                </a:tc>
                <a:tc>
                  <a:txBody>
                    <a:bodyPr wrap="square"/>
                    <a:lstStyle/>
                    <a:p>
                      <a:r>
                        <a:rPr sz="1000" b="0">
                          <a:solidFill>
                            <a:srgbClr val="0B0B0B"/>
                          </a:solidFill>
                          <a:latin typeface="Calibri"/>
                        </a:rPr>
                        <a:t>11</a:t>
                      </a:r>
                    </a:p>
                  </a:txBody>
                  <a:tcPr>
                    <a:solidFill>
                      <a:srgbClr val="CDE2FB"/>
                    </a:solidFill>
                  </a:tcPr>
                </a:tc>
              </a:tr>
              <a:tr h="292608">
                <a:tc>
                  <a:txBody>
                    <a:bodyPr wrap="square"/>
                    <a:lstStyle/>
                    <a:p>
                      <a:r>
                        <a:rPr sz="1000" b="0">
                          <a:solidFill>
                            <a:srgbClr val="0B0B0B"/>
                          </a:solidFill>
                          <a:latin typeface="Calibri"/>
                        </a:rPr>
                        <a:t>Sem classificacao</a:t>
                      </a:r>
                    </a:p>
                  </a:txBody>
                  <a:tcPr>
                    <a:solidFill>
                      <a:srgbClr val="FFFFFF"/>
                    </a:solidFill>
                  </a:tcPr>
                </a:tc>
                <a:tc>
                  <a:txBody>
                    <a:bodyPr wrap="square"/>
                    <a:lstStyle/>
                    <a:p>
                      <a:r>
                        <a:rPr sz="1000" b="0">
                          <a:solidFill>
                            <a:srgbClr val="0B0B0B"/>
                          </a:solidFill>
                          <a:latin typeface="Calibri"/>
                        </a:rPr>
                        <a:t>11</a:t>
                      </a:r>
                    </a:p>
                  </a:txBody>
                  <a:tcPr>
                    <a:solidFill>
                      <a:srgbClr val="CDE2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Arquitetura aberta</a:t>
            </a:r>
          </a:p>
        </p:txBody>
      </p:sp>
      <p:sp>
        <p:nvSpPr>
          <p:cNvPr id="4" name="TextBox 3"/>
          <p:cNvSpPr txBox="1"/>
          <p:nvPr/>
        </p:nvSpPr>
        <p:spPr>
          <a:xfrm>
            <a:off x="548640" y="868680"/>
            <a:ext cx="11064240" cy="457200"/>
          </a:xfrm>
          <a:prstGeom prst="rect">
            <a:avLst/>
          </a:prstGeom>
          <a:noFill/>
        </p:spPr>
        <p:txBody>
          <a:bodyPr wrap="square">
            <a:spAutoFit/>
          </a:bodyPr>
          <a:lstStyle/>
          <a:p>
            <a:r>
              <a:rPr sz="1200" b="0">
                <a:solidFill>
                  <a:srgbClr val="52514E"/>
                </a:solidFill>
                <a:latin typeface="Calibri"/>
              </a:rPr>
              <a:t>Produto de gestora da propria casa vs. de terceiros, na vitrine</a:t>
            </a:r>
          </a:p>
        </p:txBody>
      </p:sp>
      <p:sp>
        <p:nvSpPr>
          <p:cNvPr id="5" name="Rectangle 4"/>
          <p:cNvSpPr/>
          <p:nvPr/>
        </p:nvSpPr>
        <p:spPr>
          <a:xfrm>
            <a:off x="548640" y="1417320"/>
            <a:ext cx="164592" cy="1645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344168"/>
            <a:ext cx="2011680" cy="292608"/>
          </a:xfrm>
          <a:prstGeom prst="rect">
            <a:avLst/>
          </a:prstGeom>
          <a:noFill/>
        </p:spPr>
        <p:txBody>
          <a:bodyPr wrap="square">
            <a:spAutoFit/>
          </a:bodyPr>
          <a:lstStyle/>
          <a:p>
            <a:r>
              <a:rPr sz="1100" b="0">
                <a:solidFill>
                  <a:srgbClr val="52514E"/>
                </a:solidFill>
                <a:latin typeface="Calibri"/>
              </a:rPr>
              <a:t>Gestora da casa</a:t>
            </a:r>
          </a:p>
        </p:txBody>
      </p:sp>
      <p:sp>
        <p:nvSpPr>
          <p:cNvPr id="7" name="Rectangle 6"/>
          <p:cNvSpPr/>
          <p:nvPr/>
        </p:nvSpPr>
        <p:spPr>
          <a:xfrm>
            <a:off x="2926080" y="1417320"/>
            <a:ext cx="164592" cy="1645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2112" y="1344168"/>
            <a:ext cx="2011680" cy="292608"/>
          </a:xfrm>
          <a:prstGeom prst="rect">
            <a:avLst/>
          </a:prstGeom>
          <a:noFill/>
        </p:spPr>
        <p:txBody>
          <a:bodyPr wrap="square">
            <a:spAutoFit/>
          </a:bodyPr>
          <a:lstStyle/>
          <a:p>
            <a:r>
              <a:rPr sz="1100" b="0">
                <a:solidFill>
                  <a:srgbClr val="52514E"/>
                </a:solidFill>
                <a:latin typeface="Calibri"/>
              </a:rPr>
              <a:t>Terceiros</a:t>
            </a:r>
          </a:p>
        </p:txBody>
      </p:sp>
      <p:sp>
        <p:nvSpPr>
          <p:cNvPr id="9" name="Rectangle 8"/>
          <p:cNvSpPr/>
          <p:nvPr/>
        </p:nvSpPr>
        <p:spPr>
          <a:xfrm>
            <a:off x="5303520" y="1417320"/>
            <a:ext cx="164592" cy="16459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59552" y="1344168"/>
            <a:ext cx="2011680" cy="292608"/>
          </a:xfrm>
          <a:prstGeom prst="rect">
            <a:avLst/>
          </a:prstGeom>
          <a:noFill/>
        </p:spPr>
        <p:txBody>
          <a:bodyPr wrap="square">
            <a:spAutoFit/>
          </a:bodyPr>
          <a:lstStyle/>
          <a:p>
            <a:r>
              <a:rPr sz="1100" b="0">
                <a:solidFill>
                  <a:srgbClr val="52514E"/>
                </a:solidFill>
                <a:latin typeface="Calibri"/>
              </a:rPr>
              <a:t>Sem gestor identificado</a:t>
            </a:r>
          </a:p>
        </p:txBody>
      </p:sp>
      <p:sp>
        <p:nvSpPr>
          <p:cNvPr id="11" name="TextBox 10"/>
          <p:cNvSpPr txBox="1"/>
          <p:nvPr/>
        </p:nvSpPr>
        <p:spPr>
          <a:xfrm>
            <a:off x="548640" y="2048255"/>
            <a:ext cx="2011680" cy="320040"/>
          </a:xfrm>
          <a:prstGeom prst="rect">
            <a:avLst/>
          </a:prstGeom>
          <a:noFill/>
        </p:spPr>
        <p:txBody>
          <a:bodyPr wrap="square">
            <a:spAutoFit/>
          </a:bodyPr>
          <a:lstStyle/>
          <a:p>
            <a:r>
              <a:rPr sz="1200" b="0">
                <a:solidFill>
                  <a:srgbClr val="0B0B0B"/>
                </a:solidFill>
                <a:latin typeface="Calibri"/>
              </a:rPr>
              <a:t>Banco Inter</a:t>
            </a:r>
          </a:p>
        </p:txBody>
      </p:sp>
      <p:sp>
        <p:nvSpPr>
          <p:cNvPr id="12" name="Rectangle 11"/>
          <p:cNvSpPr/>
          <p:nvPr/>
        </p:nvSpPr>
        <p:spPr>
          <a:xfrm>
            <a:off x="2743200" y="2103120"/>
            <a:ext cx="326947" cy="274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97579" y="2103120"/>
            <a:ext cx="6604518" cy="2743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729529" y="2103120"/>
            <a:ext cx="850078" cy="27432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80192" y="2066543"/>
            <a:ext cx="1097280" cy="292608"/>
          </a:xfrm>
          <a:prstGeom prst="rect">
            <a:avLst/>
          </a:prstGeom>
          <a:noFill/>
        </p:spPr>
        <p:txBody>
          <a:bodyPr wrap="square">
            <a:spAutoFit/>
          </a:bodyPr>
          <a:lstStyle/>
          <a:p>
            <a:r>
              <a:rPr sz="1100" b="0">
                <a:solidFill>
                  <a:srgbClr val="52514E"/>
                </a:solidFill>
                <a:latin typeface="Calibri"/>
              </a:rPr>
              <a:t>466</a:t>
            </a:r>
          </a:p>
        </p:txBody>
      </p:sp>
      <p:sp>
        <p:nvSpPr>
          <p:cNvPr id="16" name="TextBox 15"/>
          <p:cNvSpPr txBox="1"/>
          <p:nvPr/>
        </p:nvSpPr>
        <p:spPr>
          <a:xfrm>
            <a:off x="548640" y="2944368"/>
            <a:ext cx="10972800" cy="365760"/>
          </a:xfrm>
          <a:prstGeom prst="rect">
            <a:avLst/>
          </a:prstGeom>
          <a:noFill/>
        </p:spPr>
        <p:txBody>
          <a:bodyPr wrap="square">
            <a:spAutoFit/>
          </a:bodyPr>
          <a:lstStyle/>
          <a:p>
            <a:r>
              <a:rPr sz="1000" b="0">
                <a:solidFill>
                  <a:srgbClr val="898781"/>
                </a:solidFill>
                <a:latin typeface="Calibri"/>
              </a:rPr>
              <a:t>"Gestora da casa" segue a mesma watchlist do radar CVM - a definicao e uma 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Custo e ticket de entrada</a:t>
            </a:r>
          </a:p>
        </p:txBody>
      </p:sp>
      <p:sp>
        <p:nvSpPr>
          <p:cNvPr id="4" name="TextBox 3"/>
          <p:cNvSpPr txBox="1"/>
          <p:nvPr/>
        </p:nvSpPr>
        <p:spPr>
          <a:xfrm>
            <a:off x="548640" y="868680"/>
            <a:ext cx="11064240" cy="457200"/>
          </a:xfrm>
          <a:prstGeom prst="rect">
            <a:avLst/>
          </a:prstGeom>
          <a:noFill/>
        </p:spPr>
        <p:txBody>
          <a:bodyPr wrap="square">
            <a:spAutoFit/>
          </a:bodyPr>
          <a:lstStyle/>
          <a:p>
            <a:r>
              <a:rPr sz="1200" b="0">
                <a:solidFill>
                  <a:srgbClr val="52514E"/>
                </a:solidFill>
                <a:latin typeface="Calibri"/>
              </a:rPr>
              <a:t>Quartis da taxa de administracao e mediana do minimo - quartis mostram a forma da prateleira; media esconderia</a:t>
            </a:r>
          </a:p>
        </p:txBody>
      </p:sp>
      <p:graphicFrame>
        <p:nvGraphicFramePr>
          <p:cNvPr id="5" name="Table 4"/>
          <p:cNvGraphicFramePr>
            <a:graphicFrameLocks noGrp="1"/>
          </p:cNvGraphicFramePr>
          <p:nvPr/>
        </p:nvGraphicFramePr>
        <p:xfrm>
          <a:off x="548640" y="1554480"/>
          <a:ext cx="9601199" cy="585216"/>
        </p:xfrm>
        <a:graphic>
          <a:graphicData uri="http://schemas.openxmlformats.org/drawingml/2006/table">
            <a:tbl>
              <a:tblPr>
                <a:tableStyleId>{5C22544A-7EE6-4342-B048-85BDC9FD1C3A}</a:tableStyleId>
              </a:tblPr>
              <a:tblGrid>
                <a:gridCol w="2514600"/>
                <a:gridCol w="1143000"/>
                <a:gridCol w="1371600"/>
                <a:gridCol w="1143000"/>
                <a:gridCol w="1828800"/>
                <a:gridCol w="1600199"/>
              </a:tblGrid>
              <a:tr h="292608">
                <a:tc>
                  <a:txBody>
                    <a:bodyPr wrap="square"/>
                    <a:lstStyle/>
                    <a:p>
                      <a:r>
                        <a:rPr sz="1100" b="1">
                          <a:solidFill>
                            <a:srgbClr val="52514E"/>
                          </a:solidFill>
                          <a:latin typeface="Calibri"/>
                        </a:rPr>
                        <a:t>Casa</a:t>
                      </a:r>
                    </a:p>
                  </a:txBody>
                  <a:tcPr>
                    <a:solidFill>
                      <a:srgbClr val="F1F0EC"/>
                    </a:solidFill>
                  </a:tcPr>
                </a:tc>
                <a:tc>
                  <a:txBody>
                    <a:bodyPr wrap="square"/>
                    <a:lstStyle/>
                    <a:p>
                      <a:r>
                        <a:rPr sz="1100" b="1">
                          <a:solidFill>
                            <a:srgbClr val="52514E"/>
                          </a:solidFill>
                          <a:latin typeface="Calibri"/>
                        </a:rPr>
                        <a:t>Taxa q1</a:t>
                      </a:r>
                    </a:p>
                  </a:txBody>
                  <a:tcPr>
                    <a:solidFill>
                      <a:srgbClr val="F1F0EC"/>
                    </a:solidFill>
                  </a:tcPr>
                </a:tc>
                <a:tc>
                  <a:txBody>
                    <a:bodyPr wrap="square"/>
                    <a:lstStyle/>
                    <a:p>
                      <a:r>
                        <a:rPr sz="1100" b="1">
                          <a:solidFill>
                            <a:srgbClr val="52514E"/>
                          </a:solidFill>
                          <a:latin typeface="Calibri"/>
                        </a:rPr>
                        <a:t>Taxa mediana</a:t>
                      </a:r>
                    </a:p>
                  </a:txBody>
                  <a:tcPr>
                    <a:solidFill>
                      <a:srgbClr val="F1F0EC"/>
                    </a:solidFill>
                  </a:tcPr>
                </a:tc>
                <a:tc>
                  <a:txBody>
                    <a:bodyPr wrap="square"/>
                    <a:lstStyle/>
                    <a:p>
                      <a:r>
                        <a:rPr sz="1100" b="1">
                          <a:solidFill>
                            <a:srgbClr val="52514E"/>
                          </a:solidFill>
                          <a:latin typeface="Calibri"/>
                        </a:rPr>
                        <a:t>Taxa q3</a:t>
                      </a:r>
                    </a:p>
                  </a:txBody>
                  <a:tcPr>
                    <a:solidFill>
                      <a:srgbClr val="F1F0EC"/>
                    </a:solidFill>
                  </a:tcPr>
                </a:tc>
                <a:tc>
                  <a:txBody>
                    <a:bodyPr wrap="square"/>
                    <a:lstStyle/>
                    <a:p>
                      <a:r>
                        <a:rPr sz="1100" b="1">
                          <a:solidFill>
                            <a:srgbClr val="52514E"/>
                          </a:solidFill>
                          <a:latin typeface="Calibri"/>
                        </a:rPr>
                        <a:t>Minimo mediano</a:t>
                      </a:r>
                    </a:p>
                  </a:txBody>
                  <a:tcPr>
                    <a:solidFill>
                      <a:srgbClr val="F1F0EC"/>
                    </a:solidFill>
                  </a:tcPr>
                </a:tc>
                <a:tc>
                  <a:txBody>
                    <a:bodyPr wrap="square"/>
                    <a:lstStyle/>
                    <a:p>
                      <a:r>
                        <a:rPr sz="1100" b="1">
                          <a:solidFill>
                            <a:srgbClr val="52514E"/>
                          </a:solidFill>
                          <a:latin typeface="Calibri"/>
                        </a:rPr>
                        <a:t>Cobertura CNPJ</a:t>
                      </a:r>
                    </a:p>
                  </a:txBody>
                  <a:tcPr>
                    <a:solidFill>
                      <a:srgbClr val="F1F0EC"/>
                    </a:solidFill>
                  </a:tcPr>
                </a:tc>
              </a:tr>
              <a:tr h="292608">
                <a:tc>
                  <a:txBody>
                    <a:bodyPr wrap="square"/>
                    <a:lstStyle/>
                    <a:p>
                      <a:r>
                        <a:rPr sz="1100" b="0">
                          <a:solidFill>
                            <a:srgbClr val="0B0B0B"/>
                          </a:solidFill>
                          <a:latin typeface="Calibri"/>
                        </a:rPr>
                        <a:t>Banco Inter</a:t>
                      </a:r>
                    </a:p>
                  </a:txBody>
                  <a:tcPr>
                    <a:solidFill>
                      <a:srgbClr val="FFFFFF"/>
                    </a:solidFill>
                  </a:tcPr>
                </a:tc>
                <a:tc>
                  <a:txBody>
                    <a:bodyPr wrap="square"/>
                    <a:lstStyle/>
                    <a:p>
                      <a:r>
                        <a:rPr sz="1100" b="0">
                          <a:solidFill>
                            <a:srgbClr val="0B0B0B"/>
                          </a:solidFill>
                          <a:latin typeface="Calibri"/>
                        </a:rPr>
                        <a:t>-</a:t>
                      </a:r>
                    </a:p>
                  </a:txBody>
                  <a:tcPr>
                    <a:solidFill>
                      <a:srgbClr val="FFFFFF"/>
                    </a:solidFill>
                  </a:tcPr>
                </a:tc>
                <a:tc>
                  <a:txBody>
                    <a:bodyPr wrap="square"/>
                    <a:lstStyle/>
                    <a:p>
                      <a:r>
                        <a:rPr sz="1100" b="0">
                          <a:solidFill>
                            <a:srgbClr val="0B0B0B"/>
                          </a:solidFill>
                          <a:latin typeface="Calibri"/>
                        </a:rPr>
                        <a:t>-</a:t>
                      </a:r>
                    </a:p>
                  </a:txBody>
                  <a:tcPr>
                    <a:solidFill>
                      <a:srgbClr val="FFFFFF"/>
                    </a:solidFill>
                  </a:tcPr>
                </a:tc>
                <a:tc>
                  <a:txBody>
                    <a:bodyPr wrap="square"/>
                    <a:lstStyle/>
                    <a:p>
                      <a:r>
                        <a:rPr sz="1100" b="0">
                          <a:solidFill>
                            <a:srgbClr val="0B0B0B"/>
                          </a:solidFill>
                          <a:latin typeface="Calibri"/>
                        </a:rPr>
                        <a:t>-</a:t>
                      </a:r>
                    </a:p>
                  </a:txBody>
                  <a:tcPr>
                    <a:solidFill>
                      <a:srgbClr val="FFFFFF"/>
                    </a:solidFill>
                  </a:tcPr>
                </a:tc>
                <a:tc>
                  <a:txBody>
                    <a:bodyPr wrap="square"/>
                    <a:lstStyle/>
                    <a:p>
                      <a:r>
                        <a:rPr sz="1100" b="0">
                          <a:solidFill>
                            <a:srgbClr val="0B0B0B"/>
                          </a:solidFill>
                          <a:latin typeface="Calibri"/>
                        </a:rPr>
                        <a:t>-</a:t>
                      </a:r>
                    </a:p>
                  </a:txBody>
                  <a:tcPr>
                    <a:solidFill>
                      <a:srgbClr val="FFFFFF"/>
                    </a:solidFill>
                  </a:tcPr>
                </a:tc>
                <a:tc>
                  <a:txBody>
                    <a:bodyPr wrap="square"/>
                    <a:lstStyle/>
                    <a:p>
                      <a:r>
                        <a:rPr sz="1100" b="0">
                          <a:solidFill>
                            <a:srgbClr val="0B0B0B"/>
                          </a:solidFill>
                          <a:latin typeface="Calibri"/>
                        </a:rPr>
                        <a:t>99%</a:t>
                      </a:r>
                    </a:p>
                  </a:txBody>
                  <a:tcPr>
                    <a:solidFill>
                      <a:srgbClr val="FFFFFF"/>
                    </a:solidFill>
                  </a:tcPr>
                </a:tc>
              </a:tr>
            </a:tbl>
          </a:graphicData>
        </a:graphic>
      </p:graphicFrame>
      <p:sp>
        <p:nvSpPr>
          <p:cNvPr id="6" name="TextBox 5"/>
          <p:cNvSpPr txBox="1"/>
          <p:nvPr/>
        </p:nvSpPr>
        <p:spPr>
          <a:xfrm>
            <a:off x="548640" y="2414015"/>
            <a:ext cx="10972800" cy="457200"/>
          </a:xfrm>
          <a:prstGeom prst="rect">
            <a:avLst/>
          </a:prstGeom>
          <a:noFill/>
        </p:spPr>
        <p:txBody>
          <a:bodyPr wrap="square">
            <a:spAutoFit/>
          </a:bodyPr>
          <a:lstStyle/>
          <a:p>
            <a:r>
              <a:rPr sz="1000" b="0">
                <a:solidFill>
                  <a:srgbClr val="898781"/>
                </a:solidFill>
                <a:latin typeface="Calibri"/>
              </a:rPr>
              <a:t>Taxa e a maxima publicada pela casa (mesma semantica do maxAdminFee do Open Finance). Celulas vazias = a fonte nao publica o campo.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Movimentos desde a coleta anterior</a:t>
            </a:r>
          </a:p>
        </p:txBody>
      </p:sp>
      <p:sp>
        <p:nvSpPr>
          <p:cNvPr id="4" name="TextBox 3"/>
          <p:cNvSpPr txBox="1"/>
          <p:nvPr/>
        </p:nvSpPr>
        <p:spPr>
          <a:xfrm>
            <a:off x="548640" y="868680"/>
            <a:ext cx="11064240" cy="457200"/>
          </a:xfrm>
          <a:prstGeom prst="rect">
            <a:avLst/>
          </a:prstGeom>
          <a:noFill/>
        </p:spPr>
        <p:txBody>
          <a:bodyPr wrap="square">
            <a:spAutoFit/>
          </a:bodyPr>
          <a:lstStyle/>
          <a:p>
            <a:r>
              <a:rPr sz="1200" b="0">
                <a:solidFill>
                  <a:srgbClr val="52514E"/>
                </a:solidFill>
                <a:latin typeface="Calibri"/>
              </a:rPr>
              <a:t>Entradas e saidas por casa; coletas suspeitas nao geram churn</a:t>
            </a:r>
          </a:p>
        </p:txBody>
      </p:sp>
      <p:graphicFrame>
        <p:nvGraphicFramePr>
          <p:cNvPr id="5" name="Table 4"/>
          <p:cNvGraphicFramePr>
            <a:graphicFrameLocks noGrp="1"/>
          </p:cNvGraphicFramePr>
          <p:nvPr/>
        </p:nvGraphicFramePr>
        <p:xfrm>
          <a:off x="548640" y="1554480"/>
          <a:ext cx="11064237" cy="1755648"/>
        </p:xfrm>
        <a:graphic>
          <a:graphicData uri="http://schemas.openxmlformats.org/drawingml/2006/table">
            <a:tbl>
              <a:tblPr>
                <a:tableStyleId>{5C22544A-7EE6-4342-B048-85BDC9FD1C3A}</a:tableStyleId>
              </a:tblPr>
              <a:tblGrid>
                <a:gridCol w="1647865"/>
                <a:gridCol w="1177046"/>
                <a:gridCol w="1177046"/>
                <a:gridCol w="7062280"/>
              </a:tblGrid>
              <a:tr h="292608">
                <a:tc>
                  <a:txBody>
                    <a:bodyPr wrap="square"/>
                    <a:lstStyle/>
                    <a:p>
                      <a:r>
                        <a:rPr sz="1000" b="1">
                          <a:solidFill>
                            <a:srgbClr val="52514E"/>
                          </a:solidFill>
                          <a:latin typeface="Calibri"/>
                        </a:rPr>
                        <a:t>Casa</a:t>
                      </a:r>
                    </a:p>
                  </a:txBody>
                  <a:tcPr>
                    <a:solidFill>
                      <a:srgbClr val="F1F0EC"/>
                    </a:solidFill>
                  </a:tcPr>
                </a:tc>
                <a:tc>
                  <a:txBody>
                    <a:bodyPr wrap="square"/>
                    <a:lstStyle/>
                    <a:p>
                      <a:r>
                        <a:rPr sz="1000" b="1">
                          <a:solidFill>
                            <a:srgbClr val="52514E"/>
                          </a:solidFill>
                          <a:latin typeface="Calibri"/>
                        </a:rPr>
                        <a:t>Entradas</a:t>
                      </a:r>
                    </a:p>
                  </a:txBody>
                  <a:tcPr>
                    <a:solidFill>
                      <a:srgbClr val="F1F0EC"/>
                    </a:solidFill>
                  </a:tcPr>
                </a:tc>
                <a:tc>
                  <a:txBody>
                    <a:bodyPr wrap="square"/>
                    <a:lstStyle/>
                    <a:p>
                      <a:r>
                        <a:rPr sz="1000" b="1">
                          <a:solidFill>
                            <a:srgbClr val="52514E"/>
                          </a:solidFill>
                          <a:latin typeface="Calibri"/>
                        </a:rPr>
                        <a:t>Saidas</a:t>
                      </a:r>
                    </a:p>
                  </a:txBody>
                  <a:tcPr>
                    <a:solidFill>
                      <a:srgbClr val="F1F0EC"/>
                    </a:solidFill>
                  </a:tcPr>
                </a:tc>
                <a:tc>
                  <a:txBody>
                    <a:bodyPr wrap="square"/>
                    <a:lstStyle/>
                    <a:p>
                      <a:r>
                        <a:rPr sz="1000" b="1">
                          <a:solidFill>
                            <a:srgbClr val="52514E"/>
                          </a:solidFill>
                          <a:latin typeface="Calibri"/>
                        </a:rPr>
                        <a:t>Observacao / exemplos de entrada</a:t>
                      </a:r>
                    </a:p>
                  </a:txBody>
                  <a:tcPr>
                    <a:solidFill>
                      <a:srgbClr val="F1F0EC"/>
                    </a:solidFill>
                  </a:tcPr>
                </a:tc>
              </a:tr>
              <a:tr h="292608">
                <a:tc>
                  <a:txBody>
                    <a:bodyPr wrap="square"/>
                    <a:lstStyle/>
                    <a:p>
                      <a:r>
                        <a:rPr sz="1000" b="0">
                          <a:solidFill>
                            <a:srgbClr val="0B0B0B"/>
                          </a:solidFill>
                          <a:latin typeface="Calibri"/>
                        </a:rPr>
                        <a:t>xp</a:t>
                      </a:r>
                    </a:p>
                  </a:txBody>
                  <a:tcPr>
                    <a:solidFill>
                      <a:srgbClr val="FFFFFF"/>
                    </a:solidFill>
                  </a:tcPr>
                </a:tc>
                <a:tc>
                  <a:txBody>
                    <a:bodyPr wrap="square"/>
                    <a:lstStyle/>
                    <a:p>
                      <a:r>
                        <a:rPr sz="1000" b="0">
                          <a:solidFill>
                            <a:srgbClr val="0B0B0B"/>
                          </a:solidFill>
                          <a:latin typeface="Calibri"/>
                        </a:rPr>
                        <a:t>29</a:t>
                      </a:r>
                    </a:p>
                  </a:txBody>
                  <a:tcPr>
                    <a:solidFill>
                      <a:srgbClr val="FFFFFF"/>
                    </a:solidFill>
                  </a:tcPr>
                </a:tc>
                <a:tc>
                  <a:txBody>
                    <a:bodyPr wrap="square"/>
                    <a:lstStyle/>
                    <a:p>
                      <a:r>
                        <a:rPr sz="1000" b="0">
                          <a:solidFill>
                            <a:srgbClr val="0B0B0B"/>
                          </a:solidFill>
                          <a:latin typeface="Calibri"/>
                        </a:rPr>
                        <a:t>26</a:t>
                      </a:r>
                    </a:p>
                  </a:txBody>
                  <a:tcPr>
                    <a:solidFill>
                      <a:srgbClr val="FFFFFF"/>
                    </a:solidFill>
                  </a:tcPr>
                </a:tc>
                <a:tc>
                  <a:txBody>
                    <a:bodyPr wrap="square"/>
                    <a:lstStyle/>
                    <a:p>
                      <a:r>
                        <a:rPr sz="1000" b="0">
                          <a:solidFill>
                            <a:srgbClr val="0B0B0B"/>
                          </a:solidFill>
                          <a:latin typeface="Calibri"/>
                        </a:rPr>
                        <a:t>A1 CP D30 RL, A1 CP Debêntures Incentivadas RL, ASA Long Biased CIC CI Multimercado RL, ...</a:t>
                      </a:r>
                    </a:p>
                  </a:txBody>
                  <a:tcPr>
                    <a:solidFill>
                      <a:srgbClr val="FFFFFF"/>
                    </a:solidFill>
                  </a:tcPr>
                </a:tc>
              </a:tr>
              <a:tr h="292608">
                <a:tc>
                  <a:txBody>
                    <a:bodyPr wrap="square"/>
                    <a:lstStyle/>
                    <a:p>
                      <a:r>
                        <a:rPr sz="1000" b="0">
                          <a:solidFill>
                            <a:srgbClr val="0B0B0B"/>
                          </a:solidFill>
                          <a:latin typeface="Calibri"/>
                        </a:rPr>
                        <a:t>btg</a:t>
                      </a:r>
                    </a:p>
                  </a:txBody>
                  <a:tcPr>
                    <a:solidFill>
                      <a:srgbClr val="FFFFFF"/>
                    </a:solidFill>
                  </a:tcPr>
                </a:tc>
                <a:tc>
                  <a:txBody>
                    <a:bodyPr wrap="square"/>
                    <a:lstStyle/>
                    <a:p>
                      <a:r>
                        <a:rPr sz="1000" b="0">
                          <a:solidFill>
                            <a:srgbClr val="0B0B0B"/>
                          </a:solidFill>
                          <a:latin typeface="Calibri"/>
                        </a:rPr>
                        <a:t>19</a:t>
                      </a:r>
                    </a:p>
                  </a:txBody>
                  <a:tcPr>
                    <a:solidFill>
                      <a:srgbClr val="FFFFFF"/>
                    </a:solidFill>
                  </a:tcPr>
                </a:tc>
                <a:tc>
                  <a:txBody>
                    <a:bodyPr wrap="square"/>
                    <a:lstStyle/>
                    <a:p>
                      <a:r>
                        <a:rPr sz="1000" b="0">
                          <a:solidFill>
                            <a:srgbClr val="0B0B0B"/>
                          </a:solidFill>
                          <a:latin typeface="Calibri"/>
                        </a:rPr>
                        <a:t>0</a:t>
                      </a:r>
                    </a:p>
                  </a:txBody>
                  <a:tcPr>
                    <a:solidFill>
                      <a:srgbClr val="FFFFFF"/>
                    </a:solidFill>
                  </a:tcPr>
                </a:tc>
                <a:tc>
                  <a:txBody>
                    <a:bodyPr wrap="square"/>
                    <a:lstStyle/>
                    <a:p>
                      <a:r>
                        <a:rPr sz="1000" b="0">
                          <a:solidFill>
                            <a:srgbClr val="0B0B0B"/>
                          </a:solidFill>
                          <a:latin typeface="Calibri"/>
                        </a:rPr>
                        <a:t>ABSOLUTE HIKER INFRA III MASTER FUNDO INCENTIVADO, ALLEGRO CAPITAL FIF EM ACOES, ALTEZZA FI FINANCEIRO EM COTAS DE FUNDOS DE INVEST, ...</a:t>
                      </a:r>
                    </a:p>
                  </a:txBody>
                  <a:tcPr>
                    <a:solidFill>
                      <a:srgbClr val="FFFFFF"/>
                    </a:solidFill>
                  </a:tcPr>
                </a:tc>
              </a:tr>
              <a:tr h="292608">
                <a:tc>
                  <a:txBody>
                    <a:bodyPr wrap="square"/>
                    <a:lstStyle/>
                    <a:p>
                      <a:r>
                        <a:rPr sz="1000" b="0">
                          <a:solidFill>
                            <a:srgbClr val="0B0B0B"/>
                          </a:solidFill>
                          <a:latin typeface="Calibri"/>
                        </a:rPr>
                        <a:t>itau</a:t>
                      </a:r>
                    </a:p>
                  </a:txBody>
                  <a:tcPr>
                    <a:solidFill>
                      <a:srgbClr val="FFFFFF"/>
                    </a:solidFill>
                  </a:tcPr>
                </a:tc>
                <a:tc>
                  <a:txBody>
                    <a:bodyPr wrap="square"/>
                    <a:lstStyle/>
                    <a:p>
                      <a:r>
                        <a:rPr sz="1000" b="0">
                          <a:solidFill>
                            <a:srgbClr val="0B0B0B"/>
                          </a:solidFill>
                          <a:latin typeface="Calibri"/>
                        </a:rPr>
                        <a:t>20</a:t>
                      </a:r>
                    </a:p>
                  </a:txBody>
                  <a:tcPr>
                    <a:solidFill>
                      <a:srgbClr val="FFFFFF"/>
                    </a:solidFill>
                  </a:tcPr>
                </a:tc>
                <a:tc>
                  <a:txBody>
                    <a:bodyPr wrap="square"/>
                    <a:lstStyle/>
                    <a:p>
                      <a:r>
                        <a:rPr sz="1000" b="0">
                          <a:solidFill>
                            <a:srgbClr val="0B0B0B"/>
                          </a:solidFill>
                          <a:latin typeface="Calibri"/>
                        </a:rPr>
                        <a:t>2</a:t>
                      </a:r>
                    </a:p>
                  </a:txBody>
                  <a:tcPr>
                    <a:solidFill>
                      <a:srgbClr val="FFFFFF"/>
                    </a:solidFill>
                  </a:tcPr>
                </a:tc>
                <a:tc>
                  <a:txBody>
                    <a:bodyPr wrap="square"/>
                    <a:lstStyle/>
                    <a:p>
                      <a:r>
                        <a:rPr sz="1000" b="0">
                          <a:solidFill>
                            <a:srgbClr val="0B0B0B"/>
                          </a:solidFill>
                          <a:latin typeface="Calibri"/>
                        </a:rPr>
                        <a:t>CAPITÂNIA INFRA 30 CDI SELEÇÃO FUNDO INCENTIVADO EM INVESTIMENTO FINANCEIRO EM INFRAESTRUTURA DA CLASSE DE INVESTIMENTO EM COTAS RENDA FIXA RESPONSABILIDADE LIMITADA, ITAÚ ARTAX ENDURANCE WHG FUNDO DE INVESTIMENTO FINANCEIRO DA CLASSE DE INVESTIMENTO EM COTAS MULTIMERCADO RESPONSABILIDADE LIMITADA, ITAÚ CENTRALIZADOR 5PRÉ11 FUNDO DE INVESTIMENTO FINANCEIRO RENDA FIXA RESPONSABILIDADE LIMITADA, ...</a:t>
                      </a:r>
                    </a:p>
                  </a:txBody>
                  <a:tcPr>
                    <a:solidFill>
                      <a:srgbClr val="FFFFFF"/>
                    </a:solidFill>
                  </a:tcPr>
                </a:tc>
              </a:tr>
              <a:tr h="292608">
                <a:tc>
                  <a:txBody>
                    <a:bodyPr wrap="square"/>
                    <a:lstStyle/>
                    <a:p>
                      <a:r>
                        <a:rPr sz="1000" b="0">
                          <a:solidFill>
                            <a:srgbClr val="0B0B0B"/>
                          </a:solidFill>
                          <a:latin typeface="Calibri"/>
                        </a:rPr>
                        <a:t>nu</a:t>
                      </a:r>
                    </a:p>
                  </a:txBody>
                  <a:tcPr>
                    <a:solidFill>
                      <a:srgbClr val="FFFFFF"/>
                    </a:solidFill>
                  </a:tcPr>
                </a:tc>
                <a:tc>
                  <a:txBody>
                    <a:bodyPr wrap="square"/>
                    <a:lstStyle/>
                    <a:p>
                      <a:r>
                        <a:rPr sz="1000" b="0">
                          <a:solidFill>
                            <a:srgbClr val="0B0B0B"/>
                          </a:solidFill>
                          <a:latin typeface="Calibri"/>
                        </a:rPr>
                        <a:t>0</a:t>
                      </a:r>
                    </a:p>
                  </a:txBody>
                  <a:tcPr>
                    <a:solidFill>
                      <a:srgbClr val="FFFFFF"/>
                    </a:solidFill>
                  </a:tcPr>
                </a:tc>
                <a:tc>
                  <a:txBody>
                    <a:bodyPr wrap="square"/>
                    <a:lstStyle/>
                    <a:p>
                      <a:r>
                        <a:rPr sz="1000" b="0">
                          <a:solidFill>
                            <a:srgbClr val="0B0B0B"/>
                          </a:solidFill>
                          <a:latin typeface="Calibri"/>
                        </a:rPr>
                        <a:t>0</a:t>
                      </a:r>
                    </a:p>
                  </a:txBody>
                  <a:tcPr>
                    <a:solidFill>
                      <a:srgbClr val="FFFFFF"/>
                    </a:solidFill>
                  </a:tcPr>
                </a:tc>
                <a:tc>
                  <a:txBody>
                    <a:bodyPr wrap="square"/>
                    <a:lstStyle/>
                    <a:p>
                      <a:r>
                        <a:rPr sz="1000" b="0">
                          <a:solidFill>
                            <a:srgbClr val="0B0B0B"/>
                          </a:solidFill>
                          <a:latin typeface="Calibri"/>
                        </a:rPr>
                        <a:t>sem movimentos</a:t>
                      </a:r>
                    </a:p>
                  </a:txBody>
                  <a:tcPr>
                    <a:solidFill>
                      <a:srgbClr val="FFFFFF"/>
                    </a:solidFill>
                  </a:tcPr>
                </a:tc>
              </a:tr>
              <a:tr h="292608">
                <a:tc>
                  <a:txBody>
                    <a:bodyPr wrap="square"/>
                    <a:lstStyle/>
                    <a:p>
                      <a:r>
                        <a:rPr sz="1000" b="0">
                          <a:solidFill>
                            <a:srgbClr val="0B0B0B"/>
                          </a:solidFill>
                          <a:latin typeface="Calibri"/>
                        </a:rPr>
                        <a:t>inter</a:t>
                      </a:r>
                    </a:p>
                  </a:txBody>
                  <a:tcPr>
                    <a:solidFill>
                      <a:srgbClr val="FFFFFF"/>
                    </a:solidFill>
                  </a:tcPr>
                </a:tc>
                <a:tc>
                  <a:txBody>
                    <a:bodyPr wrap="square"/>
                    <a:lstStyle/>
                    <a:p>
                      <a:r>
                        <a:rPr sz="1000" b="0">
                          <a:solidFill>
                            <a:srgbClr val="0B0B0B"/>
                          </a:solidFill>
                          <a:latin typeface="Calibri"/>
                        </a:rPr>
                        <a:t>67</a:t>
                      </a:r>
                    </a:p>
                  </a:txBody>
                  <a:tcPr>
                    <a:solidFill>
                      <a:srgbClr val="FFFFFF"/>
                    </a:solidFill>
                  </a:tcPr>
                </a:tc>
                <a:tc>
                  <a:txBody>
                    <a:bodyPr wrap="square"/>
                    <a:lstStyle/>
                    <a:p>
                      <a:r>
                        <a:rPr sz="1000" b="0">
                          <a:solidFill>
                            <a:srgbClr val="0B0B0B"/>
                          </a:solidFill>
                          <a:latin typeface="Calibri"/>
                        </a:rPr>
                        <a:t>0</a:t>
                      </a:r>
                    </a:p>
                  </a:txBody>
                  <a:tcPr>
                    <a:solidFill>
                      <a:srgbClr val="FFFFFF"/>
                    </a:solidFill>
                  </a:tcPr>
                </a:tc>
                <a:tc>
                  <a:txBody>
                    <a:bodyPr wrap="square"/>
                    <a:lstStyle/>
                    <a:p>
                      <a:r>
                        <a:rPr sz="1000" b="0">
                          <a:solidFill>
                            <a:srgbClr val="0B0B0B"/>
                          </a:solidFill>
                          <a:latin typeface="Calibri"/>
                        </a:rPr>
                        <a:t>ASA III FIC FIM Long Biased, AZ Quest Yield FIC FIRF LP, BB Asset Renda Fixa Ativa Plus LP FIC FI, ...</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Radar CVM - visao antecipada</a:t>
            </a:r>
          </a:p>
        </p:txBody>
      </p:sp>
      <p:sp>
        <p:nvSpPr>
          <p:cNvPr id="4" name="TextBox 3"/>
          <p:cNvSpPr txBox="1"/>
          <p:nvPr/>
        </p:nvSpPr>
        <p:spPr>
          <a:xfrm>
            <a:off x="548640" y="868680"/>
            <a:ext cx="11064240" cy="457200"/>
          </a:xfrm>
          <a:prstGeom prst="rect">
            <a:avLst/>
          </a:prstGeom>
          <a:noFill/>
        </p:spPr>
        <p:txBody>
          <a:bodyPr wrap="square">
            <a:spAutoFit/>
          </a:bodyPr>
          <a:lstStyle/>
          <a:p>
            <a:r>
              <a:rPr sz="1200" b="0">
                <a:solidFill>
                  <a:srgbClr val="52514E"/>
                </a:solidFill>
                <a:latin typeface="Calibri"/>
              </a:rPr>
              <a:t>Fundos registrados por gestoras ligadas as casas; pre-operacional = registrado e ainda nao lancado</a:t>
            </a:r>
          </a:p>
        </p:txBody>
      </p:sp>
      <p:graphicFrame>
        <p:nvGraphicFramePr>
          <p:cNvPr id="5" name="Table 4"/>
          <p:cNvGraphicFramePr>
            <a:graphicFrameLocks noGrp="1"/>
          </p:cNvGraphicFramePr>
          <p:nvPr/>
        </p:nvGraphicFramePr>
        <p:xfrm>
          <a:off x="548640" y="1463040"/>
          <a:ext cx="6857998" cy="1755648"/>
        </p:xfrm>
        <a:graphic>
          <a:graphicData uri="http://schemas.openxmlformats.org/drawingml/2006/table">
            <a:tbl>
              <a:tblPr>
                <a:tableStyleId>{5C22544A-7EE6-4342-B048-85BDC9FD1C3A}</a:tableStyleId>
              </a:tblPr>
              <a:tblGrid>
                <a:gridCol w="3117272"/>
                <a:gridCol w="1870363"/>
                <a:gridCol w="1870363"/>
              </a:tblGrid>
              <a:tr h="292608">
                <a:tc>
                  <a:txBody>
                    <a:bodyPr wrap="square"/>
                    <a:lstStyle/>
                    <a:p>
                      <a:r>
                        <a:rPr sz="1100" b="1">
                          <a:solidFill>
                            <a:srgbClr val="52514E"/>
                          </a:solidFill>
                          <a:latin typeface="Calibri"/>
                        </a:rPr>
                        <a:t>Casa</a:t>
                      </a:r>
                    </a:p>
                  </a:txBody>
                  <a:tcPr>
                    <a:solidFill>
                      <a:srgbClr val="F1F0EC"/>
                    </a:solidFill>
                  </a:tcPr>
                </a:tc>
                <a:tc>
                  <a:txBody>
                    <a:bodyPr wrap="square"/>
                    <a:lstStyle/>
                    <a:p>
                      <a:r>
                        <a:rPr sz="1100" b="1">
                          <a:solidFill>
                            <a:srgbClr val="52514E"/>
                          </a:solidFill>
                          <a:latin typeface="Calibri"/>
                        </a:rPr>
                        <a:t>Registrados</a:t>
                      </a:r>
                    </a:p>
                  </a:txBody>
                  <a:tcPr>
                    <a:solidFill>
                      <a:srgbClr val="F1F0EC"/>
                    </a:solidFill>
                  </a:tcPr>
                </a:tc>
                <a:tc>
                  <a:txBody>
                    <a:bodyPr wrap="square"/>
                    <a:lstStyle/>
                    <a:p>
                      <a:r>
                        <a:rPr sz="1100" b="1">
                          <a:solidFill>
                            <a:srgbClr val="52514E"/>
                          </a:solidFill>
                          <a:latin typeface="Calibri"/>
                        </a:rPr>
                        <a:t>Pre-operacionais</a:t>
                      </a:r>
                    </a:p>
                  </a:txBody>
                  <a:tcPr>
                    <a:solidFill>
                      <a:srgbClr val="F1F0EC"/>
                    </a:solidFill>
                  </a:tcPr>
                </a:tc>
              </a:tr>
              <a:tr h="292608">
                <a:tc>
                  <a:txBody>
                    <a:bodyPr wrap="square"/>
                    <a:lstStyle/>
                    <a:p>
                      <a:r>
                        <a:rPr sz="1100" b="0">
                          <a:solidFill>
                            <a:srgbClr val="0B0B0B"/>
                          </a:solidFill>
                          <a:latin typeface="Calibri"/>
                        </a:rPr>
                        <a:t>BTG Pactual</a:t>
                      </a:r>
                    </a:p>
                  </a:txBody>
                  <a:tcPr>
                    <a:solidFill>
                      <a:srgbClr val="FFFFFF"/>
                    </a:solidFill>
                  </a:tcPr>
                </a:tc>
                <a:tc>
                  <a:txBody>
                    <a:bodyPr wrap="square"/>
                    <a:lstStyle/>
                    <a:p>
                      <a:r>
                        <a:rPr sz="1100" b="0">
                          <a:solidFill>
                            <a:srgbClr val="0B0B0B"/>
                          </a:solidFill>
                          <a:latin typeface="Calibri"/>
                        </a:rPr>
                        <a:t>4.395</a:t>
                      </a:r>
                    </a:p>
                  </a:txBody>
                  <a:tcPr>
                    <a:solidFill>
                      <a:srgbClr val="FFFFFF"/>
                    </a:solidFill>
                  </a:tcPr>
                </a:tc>
                <a:tc>
                  <a:txBody>
                    <a:bodyPr wrap="square"/>
                    <a:lstStyle/>
                    <a:p>
                      <a:r>
                        <a:rPr sz="1100" b="0">
                          <a:solidFill>
                            <a:srgbClr val="0B0B0B"/>
                          </a:solidFill>
                          <a:latin typeface="Calibri"/>
                        </a:rPr>
                        <a:t>78</a:t>
                      </a:r>
                    </a:p>
                  </a:txBody>
                  <a:tcPr>
                    <a:solidFill>
                      <a:srgbClr val="FFFFFF"/>
                    </a:solidFill>
                  </a:tcPr>
                </a:tc>
              </a:tr>
              <a:tr h="292608">
                <a:tc>
                  <a:txBody>
                    <a:bodyPr wrap="square"/>
                    <a:lstStyle/>
                    <a:p>
                      <a:r>
                        <a:rPr sz="1100" b="0">
                          <a:solidFill>
                            <a:srgbClr val="0B0B0B"/>
                          </a:solidFill>
                          <a:latin typeface="Calibri"/>
                        </a:rPr>
                        <a:t>Banco Inter</a:t>
                      </a:r>
                    </a:p>
                  </a:txBody>
                  <a:tcPr>
                    <a:solidFill>
                      <a:srgbClr val="FFFFFF"/>
                    </a:solidFill>
                  </a:tcPr>
                </a:tc>
                <a:tc>
                  <a:txBody>
                    <a:bodyPr wrap="square"/>
                    <a:lstStyle/>
                    <a:p>
                      <a:r>
                        <a:rPr sz="1100" b="0">
                          <a:solidFill>
                            <a:srgbClr val="0B0B0B"/>
                          </a:solidFill>
                          <a:latin typeface="Calibri"/>
                        </a:rPr>
                        <a:t>159</a:t>
                      </a:r>
                    </a:p>
                  </a:txBody>
                  <a:tcPr>
                    <a:solidFill>
                      <a:srgbClr val="FFFFFF"/>
                    </a:solidFill>
                  </a:tcPr>
                </a:tc>
                <a:tc>
                  <a:txBody>
                    <a:bodyPr wrap="square"/>
                    <a:lstStyle/>
                    <a:p>
                      <a:r>
                        <a:rPr sz="1100" b="0">
                          <a:solidFill>
                            <a:srgbClr val="0B0B0B"/>
                          </a:solidFill>
                          <a:latin typeface="Calibri"/>
                        </a:rPr>
                        <a:t>2</a:t>
                      </a:r>
                    </a:p>
                  </a:txBody>
                  <a:tcPr>
                    <a:solidFill>
                      <a:srgbClr val="FFFFFF"/>
                    </a:solidFill>
                  </a:tcPr>
                </a:tc>
              </a:tr>
              <a:tr h="292608">
                <a:tc>
                  <a:txBody>
                    <a:bodyPr wrap="square"/>
                    <a:lstStyle/>
                    <a:p>
                      <a:r>
                        <a:rPr sz="1100" b="0">
                          <a:solidFill>
                            <a:srgbClr val="0B0B0B"/>
                          </a:solidFill>
                          <a:latin typeface="Calibri"/>
                        </a:rPr>
                        <a:t>Itau (Ion)</a:t>
                      </a:r>
                    </a:p>
                  </a:txBody>
                  <a:tcPr>
                    <a:solidFill>
                      <a:srgbClr val="FFFFFF"/>
                    </a:solidFill>
                  </a:tcPr>
                </a:tc>
                <a:tc>
                  <a:txBody>
                    <a:bodyPr wrap="square"/>
                    <a:lstStyle/>
                    <a:p>
                      <a:r>
                        <a:rPr sz="1100" b="0">
                          <a:solidFill>
                            <a:srgbClr val="0B0B0B"/>
                          </a:solidFill>
                          <a:latin typeface="Calibri"/>
                        </a:rPr>
                        <a:t>5.039</a:t>
                      </a:r>
                    </a:p>
                  </a:txBody>
                  <a:tcPr>
                    <a:solidFill>
                      <a:srgbClr val="FFFFFF"/>
                    </a:solidFill>
                  </a:tcPr>
                </a:tc>
                <a:tc>
                  <a:txBody>
                    <a:bodyPr wrap="square"/>
                    <a:lstStyle/>
                    <a:p>
                      <a:r>
                        <a:rPr sz="1100" b="0">
                          <a:solidFill>
                            <a:srgbClr val="0B0B0B"/>
                          </a:solidFill>
                          <a:latin typeface="Calibri"/>
                        </a:rPr>
                        <a:t>223</a:t>
                      </a:r>
                    </a:p>
                  </a:txBody>
                  <a:tcPr>
                    <a:solidFill>
                      <a:srgbClr val="FFFFFF"/>
                    </a:solidFill>
                  </a:tcPr>
                </a:tc>
              </a:tr>
              <a:tr h="292608">
                <a:tc>
                  <a:txBody>
                    <a:bodyPr wrap="square"/>
                    <a:lstStyle/>
                    <a:p>
                      <a:r>
                        <a:rPr sz="1100" b="0">
                          <a:solidFill>
                            <a:srgbClr val="0B0B0B"/>
                          </a:solidFill>
                          <a:latin typeface="Calibri"/>
                        </a:rPr>
                        <a:t>Nu (Nubank)</a:t>
                      </a:r>
                    </a:p>
                  </a:txBody>
                  <a:tcPr>
                    <a:solidFill>
                      <a:srgbClr val="FFFFFF"/>
                    </a:solidFill>
                  </a:tcPr>
                </a:tc>
                <a:tc>
                  <a:txBody>
                    <a:bodyPr wrap="square"/>
                    <a:lstStyle/>
                    <a:p>
                      <a:r>
                        <a:rPr sz="1100" b="0">
                          <a:solidFill>
                            <a:srgbClr val="0B0B0B"/>
                          </a:solidFill>
                          <a:latin typeface="Calibri"/>
                        </a:rPr>
                        <a:t>50</a:t>
                      </a:r>
                    </a:p>
                  </a:txBody>
                  <a:tcPr>
                    <a:solidFill>
                      <a:srgbClr val="FFFFFF"/>
                    </a:solidFill>
                  </a:tcPr>
                </a:tc>
                <a:tc>
                  <a:txBody>
                    <a:bodyPr wrap="square"/>
                    <a:lstStyle/>
                    <a:p>
                      <a:r>
                        <a:rPr sz="1100" b="0">
                          <a:solidFill>
                            <a:srgbClr val="0B0B0B"/>
                          </a:solidFill>
                          <a:latin typeface="Calibri"/>
                        </a:rPr>
                        <a:t>4</a:t>
                      </a:r>
                    </a:p>
                  </a:txBody>
                  <a:tcPr>
                    <a:solidFill>
                      <a:srgbClr val="FFFFFF"/>
                    </a:solidFill>
                  </a:tcPr>
                </a:tc>
              </a:tr>
              <a:tr h="292608">
                <a:tc>
                  <a:txBody>
                    <a:bodyPr wrap="square"/>
                    <a:lstStyle/>
                    <a:p>
                      <a:r>
                        <a:rPr sz="1100" b="0">
                          <a:solidFill>
                            <a:srgbClr val="0B0B0B"/>
                          </a:solidFill>
                          <a:latin typeface="Calibri"/>
                        </a:rPr>
                        <a:t>XP Investimentos</a:t>
                      </a:r>
                    </a:p>
                  </a:txBody>
                  <a:tcPr>
                    <a:solidFill>
                      <a:srgbClr val="FFFFFF"/>
                    </a:solidFill>
                  </a:tcPr>
                </a:tc>
                <a:tc>
                  <a:txBody>
                    <a:bodyPr wrap="square"/>
                    <a:lstStyle/>
                    <a:p>
                      <a:r>
                        <a:rPr sz="1100" b="0">
                          <a:solidFill>
                            <a:srgbClr val="0B0B0B"/>
                          </a:solidFill>
                          <a:latin typeface="Calibri"/>
                        </a:rPr>
                        <a:t>2.164</a:t>
                      </a:r>
                    </a:p>
                  </a:txBody>
                  <a:tcPr>
                    <a:solidFill>
                      <a:srgbClr val="FFFFFF"/>
                    </a:solidFill>
                  </a:tcPr>
                </a:tc>
                <a:tc>
                  <a:txBody>
                    <a:bodyPr wrap="square"/>
                    <a:lstStyle/>
                    <a:p>
                      <a:r>
                        <a:rPr sz="1100" b="0">
                          <a:solidFill>
                            <a:srgbClr val="0B0B0B"/>
                          </a:solidFill>
                          <a:latin typeface="Calibri"/>
                        </a:rPr>
                        <a:t>63</a:t>
                      </a:r>
                    </a:p>
                  </a:txBody>
                  <a:tcPr>
                    <a:solidFill>
                      <a:srgbClr val="FFFFFF"/>
                    </a:solidFill>
                  </a:tcPr>
                </a:tc>
              </a:tr>
            </a:tbl>
          </a:graphicData>
        </a:graphic>
      </p:graphicFrame>
      <p:sp>
        <p:nvSpPr>
          <p:cNvPr id="6" name="TextBox 5"/>
          <p:cNvSpPr txBox="1"/>
          <p:nvPr/>
        </p:nvSpPr>
        <p:spPr>
          <a:xfrm>
            <a:off x="548640" y="3584448"/>
            <a:ext cx="10972800" cy="365760"/>
          </a:xfrm>
          <a:prstGeom prst="rect">
            <a:avLst/>
          </a:prstGeom>
          <a:noFill/>
        </p:spPr>
        <p:txBody>
          <a:bodyPr wrap="square">
            <a:spAutoFit/>
          </a:bodyPr>
          <a:lstStyle/>
          <a:p>
            <a:r>
              <a:rPr sz="1300" b="1">
                <a:solidFill>
                  <a:srgbClr val="0B0B0B"/>
                </a:solidFill>
                <a:latin typeface="Calibri"/>
              </a:rPr>
              <a:t>Registros pre-operacionais mais recentes</a:t>
            </a:r>
          </a:p>
        </p:txBody>
      </p:sp>
      <p:graphicFrame>
        <p:nvGraphicFramePr>
          <p:cNvPr id="7" name="Table 6"/>
          <p:cNvGraphicFramePr>
            <a:graphicFrameLocks noGrp="1"/>
          </p:cNvGraphicFramePr>
          <p:nvPr/>
        </p:nvGraphicFramePr>
        <p:xfrm>
          <a:off x="548640" y="3995928"/>
          <a:ext cx="11064239" cy="2048256"/>
        </p:xfrm>
        <a:graphic>
          <a:graphicData uri="http://schemas.openxmlformats.org/drawingml/2006/table">
            <a:tbl>
              <a:tblPr>
                <a:tableStyleId>{5C22544A-7EE6-4342-B048-85BDC9FD1C3A}</a:tableStyleId>
              </a:tblPr>
              <a:tblGrid>
                <a:gridCol w="5423647"/>
                <a:gridCol w="1518621"/>
                <a:gridCol w="2820296"/>
                <a:gridCol w="1301675"/>
              </a:tblGrid>
              <a:tr h="292608">
                <a:tc>
                  <a:txBody>
                    <a:bodyPr wrap="square"/>
                    <a:lstStyle/>
                    <a:p>
                      <a:r>
                        <a:rPr sz="900" b="1">
                          <a:solidFill>
                            <a:srgbClr val="52514E"/>
                          </a:solidFill>
                          <a:latin typeface="Calibri"/>
                        </a:rPr>
                        <a:t>Fundo</a:t>
                      </a:r>
                    </a:p>
                  </a:txBody>
                  <a:tcPr>
                    <a:solidFill>
                      <a:srgbClr val="F1F0EC"/>
                    </a:solidFill>
                  </a:tcPr>
                </a:tc>
                <a:tc>
                  <a:txBody>
                    <a:bodyPr wrap="square"/>
                    <a:lstStyle/>
                    <a:p>
                      <a:r>
                        <a:rPr sz="900" b="1">
                          <a:solidFill>
                            <a:srgbClr val="52514E"/>
                          </a:solidFill>
                          <a:latin typeface="Calibri"/>
                        </a:rPr>
                        <a:t>Casa</a:t>
                      </a:r>
                    </a:p>
                  </a:txBody>
                  <a:tcPr>
                    <a:solidFill>
                      <a:srgbClr val="F1F0EC"/>
                    </a:solidFill>
                  </a:tcPr>
                </a:tc>
                <a:tc>
                  <a:txBody>
                    <a:bodyPr wrap="square"/>
                    <a:lstStyle/>
                    <a:p>
                      <a:r>
                        <a:rPr sz="900" b="1">
                          <a:solidFill>
                            <a:srgbClr val="52514E"/>
                          </a:solidFill>
                          <a:latin typeface="Calibri"/>
                        </a:rPr>
                        <a:t>Gestora</a:t>
                      </a:r>
                    </a:p>
                  </a:txBody>
                  <a:tcPr>
                    <a:solidFill>
                      <a:srgbClr val="F1F0EC"/>
                    </a:solidFill>
                  </a:tcPr>
                </a:tc>
                <a:tc>
                  <a:txBody>
                    <a:bodyPr wrap="square"/>
                    <a:lstStyle/>
                    <a:p>
                      <a:r>
                        <a:rPr sz="900" b="1">
                          <a:solidFill>
                            <a:srgbClr val="52514E"/>
                          </a:solidFill>
                          <a:latin typeface="Calibri"/>
                        </a:rPr>
                        <a:t>Registro</a:t>
                      </a:r>
                    </a:p>
                  </a:txBody>
                  <a:tcPr>
                    <a:solidFill>
                      <a:srgbClr val="F1F0EC"/>
                    </a:solidFill>
                  </a:tcPr>
                </a:tc>
              </a:tr>
              <a:tr h="292608">
                <a:tc>
                  <a:txBody>
                    <a:bodyPr wrap="square"/>
                    <a:lstStyle/>
                    <a:p>
                      <a:r>
                        <a:rPr sz="900" b="0">
                          <a:solidFill>
                            <a:srgbClr val="0B0B0B"/>
                          </a:solidFill>
                          <a:latin typeface="Calibri"/>
                        </a:rPr>
                        <a:t>ITAÚ VÉRTICE PREV DUAL FIF MULTIMERCADO CRÉDITO PRIVADO RESPONSABILIDA</a:t>
                      </a:r>
                    </a:p>
                  </a:txBody>
                  <a:tcPr>
                    <a:solidFill>
                      <a:srgbClr val="FFFFFF"/>
                    </a:solidFill>
                  </a:tcPr>
                </a:tc>
                <a:tc>
                  <a:txBody>
                    <a:bodyPr wrap="square"/>
                    <a:lstStyle/>
                    <a:p>
                      <a:r>
                        <a:rPr sz="900" b="0">
                          <a:solidFill>
                            <a:srgbClr val="0B0B0B"/>
                          </a:solidFill>
                          <a:latin typeface="Calibri"/>
                        </a:rPr>
                        <a:t>Itau (Ion)</a:t>
                      </a:r>
                    </a:p>
                  </a:txBody>
                  <a:tcPr>
                    <a:solidFill>
                      <a:srgbClr val="FFFFFF"/>
                    </a:solidFill>
                  </a:tcPr>
                </a:tc>
                <a:tc>
                  <a:txBody>
                    <a:bodyPr wrap="square"/>
                    <a:lstStyle/>
                    <a:p>
                      <a:r>
                        <a:rPr sz="900" b="0">
                          <a:solidFill>
                            <a:srgbClr val="0B0B0B"/>
                          </a:solidFill>
                          <a:latin typeface="Calibri"/>
                        </a:rPr>
                        <a:t>ITAU UNIBANCO ASSET MANAGEMENT LTDA.</a:t>
                      </a:r>
                    </a:p>
                  </a:txBody>
                  <a:tcPr>
                    <a:solidFill>
                      <a:srgbClr val="FFFFFF"/>
                    </a:solidFill>
                  </a:tcPr>
                </a:tc>
                <a:tc>
                  <a:txBody>
                    <a:bodyPr wrap="square"/>
                    <a:lstStyle/>
                    <a:p>
                      <a:r>
                        <a:rPr sz="900" b="0">
                          <a:solidFill>
                            <a:srgbClr val="0B0B0B"/>
                          </a:solidFill>
                          <a:latin typeface="Calibri"/>
                        </a:rPr>
                        <a:t>2026-09-11</a:t>
                      </a:r>
                    </a:p>
                  </a:txBody>
                  <a:tcPr>
                    <a:solidFill>
                      <a:srgbClr val="FFFFFF"/>
                    </a:solidFill>
                  </a:tcPr>
                </a:tc>
              </a:tr>
              <a:tr h="292608">
                <a:tc>
                  <a:txBody>
                    <a:bodyPr wrap="square"/>
                    <a:lstStyle/>
                    <a:p>
                      <a:r>
                        <a:rPr sz="900" b="0">
                          <a:solidFill>
                            <a:srgbClr val="0B0B0B"/>
                          </a:solidFill>
                          <a:latin typeface="Calibri"/>
                        </a:rPr>
                        <a:t>JMP INVEST FUNDO INCENTIVADO DE INVESTIMENTO FINANCEIRO EM INFRAESTRUT</a:t>
                      </a:r>
                    </a:p>
                  </a:txBody>
                  <a:tcPr>
                    <a:solidFill>
                      <a:srgbClr val="FFFFFF"/>
                    </a:solidFill>
                  </a:tcPr>
                </a:tc>
                <a:tc>
                  <a:txBody>
                    <a:bodyPr wrap="square"/>
                    <a:lstStyle/>
                    <a:p>
                      <a:r>
                        <a:rPr sz="900" b="0">
                          <a:solidFill>
                            <a:srgbClr val="0B0B0B"/>
                          </a:solidFill>
                          <a:latin typeface="Calibri"/>
                        </a:rPr>
                        <a:t>BTG Pactual</a:t>
                      </a:r>
                    </a:p>
                  </a:txBody>
                  <a:tcPr>
                    <a:solidFill>
                      <a:srgbClr val="FFFFFF"/>
                    </a:solidFill>
                  </a:tcPr>
                </a:tc>
                <a:tc>
                  <a:txBody>
                    <a:bodyPr wrap="square"/>
                    <a:lstStyle/>
                    <a:p>
                      <a:r>
                        <a:rPr sz="900" b="0">
                          <a:solidFill>
                            <a:srgbClr val="0B0B0B"/>
                          </a:solidFill>
                          <a:latin typeface="Calibri"/>
                        </a:rPr>
                        <a:t>BTG PACTUAL GESTÃO E CONSULTORIA DE INVE</a:t>
                      </a:r>
                    </a:p>
                  </a:txBody>
                  <a:tcPr>
                    <a:solidFill>
                      <a:srgbClr val="FFFFFF"/>
                    </a:solidFill>
                  </a:tcPr>
                </a:tc>
                <a:tc>
                  <a:txBody>
                    <a:bodyPr wrap="square"/>
                    <a:lstStyle/>
                    <a:p>
                      <a:r>
                        <a:rPr sz="900" b="0">
                          <a:solidFill>
                            <a:srgbClr val="0B0B0B"/>
                          </a:solidFill>
                          <a:latin typeface="Calibri"/>
                        </a:rPr>
                        <a:t>2026-09-11</a:t>
                      </a:r>
                    </a:p>
                  </a:txBody>
                  <a:tcPr>
                    <a:solidFill>
                      <a:srgbClr val="FFFFFF"/>
                    </a:solidFill>
                  </a:tcPr>
                </a:tc>
              </a:tr>
              <a:tr h="292608">
                <a:tc>
                  <a:txBody>
                    <a:bodyPr wrap="square"/>
                    <a:lstStyle/>
                    <a:p>
                      <a:r>
                        <a:rPr sz="900" b="0">
                          <a:solidFill>
                            <a:srgbClr val="0B0B0B"/>
                          </a:solidFill>
                          <a:latin typeface="Calibri"/>
                        </a:rPr>
                        <a:t>ITAÚ INTELIGÊNCIA ARTIFICIAL E TECNOLOGIA FUNDO DE INVESTIMENTO FINANC</a:t>
                      </a:r>
                    </a:p>
                  </a:txBody>
                  <a:tcPr>
                    <a:solidFill>
                      <a:srgbClr val="FFFFFF"/>
                    </a:solidFill>
                  </a:tcPr>
                </a:tc>
                <a:tc>
                  <a:txBody>
                    <a:bodyPr wrap="square"/>
                    <a:lstStyle/>
                    <a:p>
                      <a:r>
                        <a:rPr sz="900" b="0">
                          <a:solidFill>
                            <a:srgbClr val="0B0B0B"/>
                          </a:solidFill>
                          <a:latin typeface="Calibri"/>
                        </a:rPr>
                        <a:t>Itau (Ion)</a:t>
                      </a:r>
                    </a:p>
                  </a:txBody>
                  <a:tcPr>
                    <a:solidFill>
                      <a:srgbClr val="FFFFFF"/>
                    </a:solidFill>
                  </a:tcPr>
                </a:tc>
                <a:tc>
                  <a:txBody>
                    <a:bodyPr wrap="square"/>
                    <a:lstStyle/>
                    <a:p>
                      <a:r>
                        <a:rPr sz="900" b="0">
                          <a:solidFill>
                            <a:srgbClr val="0B0B0B"/>
                          </a:solidFill>
                          <a:latin typeface="Calibri"/>
                        </a:rPr>
                        <a:t>ITAU UNIBANCO ASSET MANAGEMENT LTDA.</a:t>
                      </a:r>
                    </a:p>
                  </a:txBody>
                  <a:tcPr>
                    <a:solidFill>
                      <a:srgbClr val="FFFFFF"/>
                    </a:solidFill>
                  </a:tcPr>
                </a:tc>
                <a:tc>
                  <a:txBody>
                    <a:bodyPr wrap="square"/>
                    <a:lstStyle/>
                    <a:p>
                      <a:r>
                        <a:rPr sz="900" b="0">
                          <a:solidFill>
                            <a:srgbClr val="0B0B0B"/>
                          </a:solidFill>
                          <a:latin typeface="Calibri"/>
                        </a:rPr>
                        <a:t>2026-09-11</a:t>
                      </a:r>
                    </a:p>
                  </a:txBody>
                  <a:tcPr>
                    <a:solidFill>
                      <a:srgbClr val="FFFFFF"/>
                    </a:solidFill>
                  </a:tcPr>
                </a:tc>
              </a:tr>
              <a:tr h="292608">
                <a:tc>
                  <a:txBody>
                    <a:bodyPr wrap="square"/>
                    <a:lstStyle/>
                    <a:p>
                      <a:r>
                        <a:rPr sz="900" b="0">
                          <a:solidFill>
                            <a:srgbClr val="0B0B0B"/>
                          </a:solidFill>
                          <a:latin typeface="Calibri"/>
                        </a:rPr>
                        <a:t>XP BANCOS ALOCADORES S FIF RENDA FIXA REFERENCIADO DI CRÉDITO PRIVADO </a:t>
                      </a:r>
                    </a:p>
                  </a:txBody>
                  <a:tcPr>
                    <a:solidFill>
                      <a:srgbClr val="FFFFFF"/>
                    </a:solidFill>
                  </a:tcPr>
                </a:tc>
                <a:tc>
                  <a:txBody>
                    <a:bodyPr wrap="square"/>
                    <a:lstStyle/>
                    <a:p>
                      <a:r>
                        <a:rPr sz="900" b="0">
                          <a:solidFill>
                            <a:srgbClr val="0B0B0B"/>
                          </a:solidFill>
                          <a:latin typeface="Calibri"/>
                        </a:rPr>
                        <a:t>XP Investimentos</a:t>
                      </a:r>
                    </a:p>
                  </a:txBody>
                  <a:tcPr>
                    <a:solidFill>
                      <a:srgbClr val="FFFFFF"/>
                    </a:solidFill>
                  </a:tcPr>
                </a:tc>
                <a:tc>
                  <a:txBody>
                    <a:bodyPr wrap="square"/>
                    <a:lstStyle/>
                    <a:p>
                      <a:r>
                        <a:rPr sz="900" b="0">
                          <a:solidFill>
                            <a:srgbClr val="0B0B0B"/>
                          </a:solidFill>
                          <a:latin typeface="Calibri"/>
                        </a:rPr>
                        <a:t>XP VISTA ASSET MANAGEMENT LTDA.</a:t>
                      </a:r>
                    </a:p>
                  </a:txBody>
                  <a:tcPr>
                    <a:solidFill>
                      <a:srgbClr val="FFFFFF"/>
                    </a:solidFill>
                  </a:tcPr>
                </a:tc>
                <a:tc>
                  <a:txBody>
                    <a:bodyPr wrap="square"/>
                    <a:lstStyle/>
                    <a:p>
                      <a:r>
                        <a:rPr sz="900" b="0">
                          <a:solidFill>
                            <a:srgbClr val="0B0B0B"/>
                          </a:solidFill>
                          <a:latin typeface="Calibri"/>
                        </a:rPr>
                        <a:t>2026-09-10</a:t>
                      </a:r>
                    </a:p>
                  </a:txBody>
                  <a:tcPr>
                    <a:solidFill>
                      <a:srgbClr val="FFFFFF"/>
                    </a:solidFill>
                  </a:tcPr>
                </a:tc>
              </a:tr>
              <a:tr h="292608">
                <a:tc>
                  <a:txBody>
                    <a:bodyPr wrap="square"/>
                    <a:lstStyle/>
                    <a:p>
                      <a:r>
                        <a:rPr sz="900" b="0">
                          <a:solidFill>
                            <a:srgbClr val="0B0B0B"/>
                          </a:solidFill>
                          <a:latin typeface="Calibri"/>
                        </a:rPr>
                        <a:t>ARX FUJI SELEÇAO FIF DA CLASSE DE INVESTIMENTO EM COTAS RF CRÉDITO PRI</a:t>
                      </a:r>
                    </a:p>
                  </a:txBody>
                  <a:tcPr>
                    <a:solidFill>
                      <a:srgbClr val="FFFFFF"/>
                    </a:solidFill>
                  </a:tcPr>
                </a:tc>
                <a:tc>
                  <a:txBody>
                    <a:bodyPr wrap="square"/>
                    <a:lstStyle/>
                    <a:p>
                      <a:r>
                        <a:rPr sz="900" b="0">
                          <a:solidFill>
                            <a:srgbClr val="0B0B0B"/>
                          </a:solidFill>
                          <a:latin typeface="Calibri"/>
                        </a:rPr>
                        <a:t>Itau (Ion)</a:t>
                      </a:r>
                    </a:p>
                  </a:txBody>
                  <a:tcPr>
                    <a:solidFill>
                      <a:srgbClr val="FFFFFF"/>
                    </a:solidFill>
                  </a:tcPr>
                </a:tc>
                <a:tc>
                  <a:txBody>
                    <a:bodyPr wrap="square"/>
                    <a:lstStyle/>
                    <a:p>
                      <a:r>
                        <a:rPr sz="900" b="0">
                          <a:solidFill>
                            <a:srgbClr val="0B0B0B"/>
                          </a:solidFill>
                          <a:latin typeface="Calibri"/>
                        </a:rPr>
                        <a:t>ITAU UNIBANCO ASSET MANAGEMENT LTDA.</a:t>
                      </a:r>
                    </a:p>
                  </a:txBody>
                  <a:tcPr>
                    <a:solidFill>
                      <a:srgbClr val="FFFFFF"/>
                    </a:solidFill>
                  </a:tcPr>
                </a:tc>
                <a:tc>
                  <a:txBody>
                    <a:bodyPr wrap="square"/>
                    <a:lstStyle/>
                    <a:p>
                      <a:r>
                        <a:rPr sz="900" b="0">
                          <a:solidFill>
                            <a:srgbClr val="0B0B0B"/>
                          </a:solidFill>
                          <a:latin typeface="Calibri"/>
                        </a:rPr>
                        <a:t>2026-09-10</a:t>
                      </a:r>
                    </a:p>
                  </a:txBody>
                  <a:tcPr>
                    <a:solidFill>
                      <a:srgbClr val="FFFFFF"/>
                    </a:solidFill>
                  </a:tcPr>
                </a:tc>
              </a:tr>
              <a:tr h="292608">
                <a:tc>
                  <a:txBody>
                    <a:bodyPr wrap="square"/>
                    <a:lstStyle/>
                    <a:p>
                      <a:r>
                        <a:rPr sz="900" b="0">
                          <a:solidFill>
                            <a:srgbClr val="0B0B0B"/>
                          </a:solidFill>
                          <a:latin typeface="Calibri"/>
                        </a:rPr>
                        <a:t>KAPITALO INFRA SELEÇAO CDI LOW DURATION FIF INCENTIVADO EM DEB DE INFR</a:t>
                      </a:r>
                    </a:p>
                  </a:txBody>
                  <a:tcPr>
                    <a:solidFill>
                      <a:srgbClr val="FFFFFF"/>
                    </a:solidFill>
                  </a:tcPr>
                </a:tc>
                <a:tc>
                  <a:txBody>
                    <a:bodyPr wrap="square"/>
                    <a:lstStyle/>
                    <a:p>
                      <a:r>
                        <a:rPr sz="900" b="0">
                          <a:solidFill>
                            <a:srgbClr val="0B0B0B"/>
                          </a:solidFill>
                          <a:latin typeface="Calibri"/>
                        </a:rPr>
                        <a:t>Itau (Ion)</a:t>
                      </a:r>
                    </a:p>
                  </a:txBody>
                  <a:tcPr>
                    <a:solidFill>
                      <a:srgbClr val="FFFFFF"/>
                    </a:solidFill>
                  </a:tcPr>
                </a:tc>
                <a:tc>
                  <a:txBody>
                    <a:bodyPr wrap="square"/>
                    <a:lstStyle/>
                    <a:p>
                      <a:r>
                        <a:rPr sz="900" b="0">
                          <a:solidFill>
                            <a:srgbClr val="0B0B0B"/>
                          </a:solidFill>
                          <a:latin typeface="Calibri"/>
                        </a:rPr>
                        <a:t>ITAU UNIBANCO ASSET MANAGEMENT LTDA.</a:t>
                      </a:r>
                    </a:p>
                  </a:txBody>
                  <a:tcPr>
                    <a:solidFill>
                      <a:srgbClr val="FFFFFF"/>
                    </a:solidFill>
                  </a:tcPr>
                </a:tc>
                <a:tc>
                  <a:txBody>
                    <a:bodyPr wrap="square"/>
                    <a:lstStyle/>
                    <a:p>
                      <a:r>
                        <a:rPr sz="900" b="0">
                          <a:solidFill>
                            <a:srgbClr val="0B0B0B"/>
                          </a:solidFill>
                          <a:latin typeface="Calibri"/>
                        </a:rPr>
                        <a:t>2026-09-10</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48640"/>
          </a:xfrm>
          <a:prstGeom prst="rect">
            <a:avLst/>
          </a:prstGeom>
          <a:noFill/>
        </p:spPr>
        <p:txBody>
          <a:bodyPr wrap="square">
            <a:spAutoFit/>
          </a:bodyPr>
          <a:lstStyle/>
          <a:p>
            <a:r>
              <a:rPr sz="2400" b="1">
                <a:solidFill>
                  <a:srgbClr val="0B0B0B"/>
                </a:solidFill>
                <a:latin typeface="Calibri"/>
              </a:rPr>
              <a:t>Metodologia e proveniencia</a:t>
            </a:r>
          </a:p>
        </p:txBody>
      </p:sp>
      <p:sp>
        <p:nvSpPr>
          <p:cNvPr id="4" name="TextBox 3"/>
          <p:cNvSpPr txBox="1"/>
          <p:nvPr/>
        </p:nvSpPr>
        <p:spPr>
          <a:xfrm>
            <a:off x="548640" y="1371600"/>
            <a:ext cx="2194560" cy="365760"/>
          </a:xfrm>
          <a:prstGeom prst="rect">
            <a:avLst/>
          </a:prstGeom>
          <a:noFill/>
        </p:spPr>
        <p:txBody>
          <a:bodyPr wrap="square">
            <a:spAutoFit/>
          </a:bodyPr>
          <a:lstStyle/>
          <a:p>
            <a:r>
              <a:rPr sz="1100" b="1">
                <a:solidFill>
                  <a:srgbClr val="52514E"/>
                </a:solidFill>
                <a:latin typeface="Calibri"/>
              </a:rPr>
              <a:t>Vitrine</a:t>
            </a:r>
          </a:p>
        </p:txBody>
      </p:sp>
      <p:sp>
        <p:nvSpPr>
          <p:cNvPr id="5" name="TextBox 4"/>
          <p:cNvSpPr txBox="1"/>
          <p:nvPr/>
        </p:nvSpPr>
        <p:spPr>
          <a:xfrm>
            <a:off x="2834640" y="1371600"/>
            <a:ext cx="8778240" cy="566928"/>
          </a:xfrm>
          <a:prstGeom prst="rect">
            <a:avLst/>
          </a:prstGeom>
          <a:noFill/>
        </p:spPr>
        <p:txBody>
          <a:bodyPr wrap="square">
            <a:spAutoFit/>
          </a:bodyPr>
          <a:lstStyle/>
          <a:p>
            <a:r>
              <a:rPr sz="1050" b="0">
                <a:solidFill>
                  <a:srgbClr val="0B0B0B"/>
                </a:solidFill>
                <a:latin typeface="Calibri"/>
              </a:rPr>
              <a:t>fundo presente no canal da propria casa (site, API do portal ou area logada). Open Finance = catalogo regulatorio, usado para enriquecer e como referencia.</a:t>
            </a:r>
          </a:p>
        </p:txBody>
      </p:sp>
      <p:sp>
        <p:nvSpPr>
          <p:cNvPr id="6" name="TextBox 5"/>
          <p:cNvSpPr txBox="1"/>
          <p:nvPr/>
        </p:nvSpPr>
        <p:spPr>
          <a:xfrm>
            <a:off x="548640" y="1938528"/>
            <a:ext cx="2194560" cy="365760"/>
          </a:xfrm>
          <a:prstGeom prst="rect">
            <a:avLst/>
          </a:prstGeom>
          <a:noFill/>
        </p:spPr>
        <p:txBody>
          <a:bodyPr wrap="square">
            <a:spAutoFit/>
          </a:bodyPr>
          <a:lstStyle/>
          <a:p>
            <a:r>
              <a:rPr sz="1100" b="1">
                <a:solidFill>
                  <a:srgbClr val="52514E"/>
                </a:solidFill>
                <a:latin typeface="Calibri"/>
              </a:rPr>
              <a:t>Perfil de varejo</a:t>
            </a:r>
          </a:p>
        </p:txBody>
      </p:sp>
      <p:sp>
        <p:nvSpPr>
          <p:cNvPr id="7" name="TextBox 6"/>
          <p:cNvSpPr txBox="1"/>
          <p:nvPr/>
        </p:nvSpPr>
        <p:spPr>
          <a:xfrm>
            <a:off x="2834640" y="1938528"/>
            <a:ext cx="8778240" cy="566928"/>
          </a:xfrm>
          <a:prstGeom prst="rect">
            <a:avLst/>
          </a:prstGeom>
          <a:noFill/>
        </p:spPr>
        <p:txBody>
          <a:bodyPr wrap="square">
            <a:spAutoFit/>
          </a:bodyPr>
          <a:lstStyle/>
          <a:p>
            <a:r>
              <a:rPr sz="1050" b="0">
                <a:solidFill>
                  <a:srgbClr val="0B0B0B"/>
                </a:solidFill>
                <a:latin typeface="Calibri"/>
              </a:rPr>
              <a:t>fundos exclusivos/restritos (3.560 nesta coleta) ficam fora de toda analise; o inventario deles esta na aba 'Restritos (auxiliar)' da planilha e no dashboard.</a:t>
            </a:r>
          </a:p>
        </p:txBody>
      </p:sp>
      <p:sp>
        <p:nvSpPr>
          <p:cNvPr id="8" name="TextBox 7"/>
          <p:cNvSpPr txBox="1"/>
          <p:nvPr/>
        </p:nvSpPr>
        <p:spPr>
          <a:xfrm>
            <a:off x="548640" y="2505456"/>
            <a:ext cx="2194560" cy="365760"/>
          </a:xfrm>
          <a:prstGeom prst="rect">
            <a:avLst/>
          </a:prstGeom>
          <a:noFill/>
        </p:spPr>
        <p:txBody>
          <a:bodyPr wrap="square">
            <a:spAutoFit/>
          </a:bodyPr>
          <a:lstStyle/>
          <a:p>
            <a:r>
              <a:rPr sz="1100" b="1">
                <a:solidFill>
                  <a:srgbClr val="52514E"/>
                </a:solidFill>
                <a:latin typeface="Calibri"/>
              </a:rPr>
              <a:t>Precedencia</a:t>
            </a:r>
          </a:p>
        </p:txBody>
      </p:sp>
      <p:sp>
        <p:nvSpPr>
          <p:cNvPr id="9" name="TextBox 8"/>
          <p:cNvSpPr txBox="1"/>
          <p:nvPr/>
        </p:nvSpPr>
        <p:spPr>
          <a:xfrm>
            <a:off x="2834640" y="2505456"/>
            <a:ext cx="8778240" cy="566928"/>
          </a:xfrm>
          <a:prstGeom prst="rect">
            <a:avLst/>
          </a:prstGeom>
          <a:noFill/>
        </p:spPr>
        <p:txBody>
          <a:bodyPr wrap="square">
            <a:spAutoFit/>
          </a:bodyPr>
          <a:lstStyle/>
          <a:p>
            <a:r>
              <a:rPr sz="1050" b="0">
                <a:solidFill>
                  <a:srgbClr val="0B0B0B"/>
                </a:solidFill>
                <a:latin typeface="Calibri"/>
              </a:rPr>
              <a:t>Open Finance &gt; area logada &gt; API do portal &gt; navegador &gt; HTML; fontes que faltam preenchem, nunca sobrescrevem.</a:t>
            </a:r>
          </a:p>
        </p:txBody>
      </p:sp>
      <p:sp>
        <p:nvSpPr>
          <p:cNvPr id="10" name="TextBox 9"/>
          <p:cNvSpPr txBox="1"/>
          <p:nvPr/>
        </p:nvSpPr>
        <p:spPr>
          <a:xfrm>
            <a:off x="548640" y="3072384"/>
            <a:ext cx="2194560" cy="365760"/>
          </a:xfrm>
          <a:prstGeom prst="rect">
            <a:avLst/>
          </a:prstGeom>
          <a:noFill/>
        </p:spPr>
        <p:txBody>
          <a:bodyPr wrap="square">
            <a:spAutoFit/>
          </a:bodyPr>
          <a:lstStyle/>
          <a:p>
            <a:r>
              <a:rPr sz="1100" b="1">
                <a:solidFill>
                  <a:srgbClr val="52514E"/>
                </a:solidFill>
                <a:latin typeface="Calibri"/>
              </a:rPr>
              <a:t>Normalizacao ANBIMA</a:t>
            </a:r>
          </a:p>
        </p:txBody>
      </p:sp>
      <p:sp>
        <p:nvSpPr>
          <p:cNvPr id="11" name="TextBox 10"/>
          <p:cNvSpPr txBox="1"/>
          <p:nvPr/>
        </p:nvSpPr>
        <p:spPr>
          <a:xfrm>
            <a:off x="2834640" y="3072384"/>
            <a:ext cx="8778240" cy="566928"/>
          </a:xfrm>
          <a:prstGeom prst="rect">
            <a:avLst/>
          </a:prstGeom>
          <a:noFill/>
        </p:spPr>
        <p:txBody>
          <a:bodyPr wrap="square">
            <a:spAutoFit/>
          </a:bodyPr>
          <a:lstStyle/>
          <a:p>
            <a:r>
              <a:rPr sz="1050" b="0">
                <a:solidFill>
                  <a:srgbClr val="0B0B0B"/>
                </a:solidFill>
                <a:latin typeface="Calibri"/>
              </a:rPr>
              <a:t>join por CNPJ com o registro oficial CVM: 8852 de 13138 fundos com CNPJ (67%).</a:t>
            </a:r>
          </a:p>
        </p:txBody>
      </p:sp>
      <p:sp>
        <p:nvSpPr>
          <p:cNvPr id="12" name="TextBox 11"/>
          <p:cNvSpPr txBox="1"/>
          <p:nvPr/>
        </p:nvSpPr>
        <p:spPr>
          <a:xfrm>
            <a:off x="548640" y="3639312"/>
            <a:ext cx="2194560" cy="365760"/>
          </a:xfrm>
          <a:prstGeom prst="rect">
            <a:avLst/>
          </a:prstGeom>
          <a:noFill/>
        </p:spPr>
        <p:txBody>
          <a:bodyPr wrap="square">
            <a:spAutoFit/>
          </a:bodyPr>
          <a:lstStyle/>
          <a:p>
            <a:r>
              <a:rPr sz="1100" b="1">
                <a:solidFill>
                  <a:srgbClr val="52514E"/>
                </a:solidFill>
                <a:latin typeface="Calibri"/>
              </a:rPr>
              <a:t>xp</a:t>
            </a:r>
          </a:p>
        </p:txBody>
      </p:sp>
      <p:sp>
        <p:nvSpPr>
          <p:cNvPr id="13" name="TextBox 12"/>
          <p:cNvSpPr txBox="1"/>
          <p:nvPr/>
        </p:nvSpPr>
        <p:spPr>
          <a:xfrm>
            <a:off x="2834640" y="3639312"/>
            <a:ext cx="8778240" cy="566928"/>
          </a:xfrm>
          <a:prstGeom prst="rect">
            <a:avLst/>
          </a:prstGeom>
          <a:noFill/>
        </p:spPr>
        <p:txBody>
          <a:bodyPr wrap="square">
            <a:spAutoFit/>
          </a:bodyPr>
          <a:lstStyle/>
          <a:p>
            <a:r>
              <a:rPr sz="1050" b="0">
                <a:solidFill>
                  <a:srgbClr val="0B0B0B"/>
                </a:solidFill>
                <a:latin typeface="Calibri"/>
              </a:rPr>
              <a:t>13/09/2026 - status ok; vitrine 0 de 627; obs: fontes indisponiveis -&gt; playwright: nenhum fundo identificado em https://www.xpi.com.br/investimentos/fundos-de-investim</a:t>
            </a:r>
          </a:p>
        </p:txBody>
      </p:sp>
      <p:sp>
        <p:nvSpPr>
          <p:cNvPr id="14" name="TextBox 13"/>
          <p:cNvSpPr txBox="1"/>
          <p:nvPr/>
        </p:nvSpPr>
        <p:spPr>
          <a:xfrm>
            <a:off x="548640" y="4206240"/>
            <a:ext cx="2194560" cy="365760"/>
          </a:xfrm>
          <a:prstGeom prst="rect">
            <a:avLst/>
          </a:prstGeom>
          <a:noFill/>
        </p:spPr>
        <p:txBody>
          <a:bodyPr wrap="square">
            <a:spAutoFit/>
          </a:bodyPr>
          <a:lstStyle/>
          <a:p>
            <a:r>
              <a:rPr sz="1100" b="1">
                <a:solidFill>
                  <a:srgbClr val="52514E"/>
                </a:solidFill>
                <a:latin typeface="Calibri"/>
              </a:rPr>
              <a:t>btg</a:t>
            </a:r>
          </a:p>
        </p:txBody>
      </p:sp>
      <p:sp>
        <p:nvSpPr>
          <p:cNvPr id="15" name="TextBox 14"/>
          <p:cNvSpPr txBox="1"/>
          <p:nvPr/>
        </p:nvSpPr>
        <p:spPr>
          <a:xfrm>
            <a:off x="2834640" y="4206240"/>
            <a:ext cx="8778240" cy="566928"/>
          </a:xfrm>
          <a:prstGeom prst="rect">
            <a:avLst/>
          </a:prstGeom>
          <a:noFill/>
        </p:spPr>
        <p:txBody>
          <a:bodyPr wrap="square">
            <a:spAutoFit/>
          </a:bodyPr>
          <a:lstStyle/>
          <a:p>
            <a:r>
              <a:rPr sz="1050" b="0">
                <a:solidFill>
                  <a:srgbClr val="0B0B0B"/>
                </a:solidFill>
                <a:latin typeface="Calibri"/>
              </a:rPr>
              <a:t>13/09/2026 - status ok; vitrine 0 de 9837; obs: fontes indisponiveis -&gt; api-json: HTTP 500 em https://investimentos.btgpactual.com/services/api/funds-public/public/fund</a:t>
            </a:r>
          </a:p>
        </p:txBody>
      </p:sp>
      <p:sp>
        <p:nvSpPr>
          <p:cNvPr id="16" name="TextBox 15"/>
          <p:cNvSpPr txBox="1"/>
          <p:nvPr/>
        </p:nvSpPr>
        <p:spPr>
          <a:xfrm>
            <a:off x="548640" y="4773168"/>
            <a:ext cx="2194560" cy="365760"/>
          </a:xfrm>
          <a:prstGeom prst="rect">
            <a:avLst/>
          </a:prstGeom>
          <a:noFill/>
        </p:spPr>
        <p:txBody>
          <a:bodyPr wrap="square">
            <a:spAutoFit/>
          </a:bodyPr>
          <a:lstStyle/>
          <a:p>
            <a:r>
              <a:rPr sz="1100" b="1">
                <a:solidFill>
                  <a:srgbClr val="52514E"/>
                </a:solidFill>
                <a:latin typeface="Calibri"/>
              </a:rPr>
              <a:t>itau</a:t>
            </a:r>
          </a:p>
        </p:txBody>
      </p:sp>
      <p:sp>
        <p:nvSpPr>
          <p:cNvPr id="17" name="TextBox 16"/>
          <p:cNvSpPr txBox="1"/>
          <p:nvPr/>
        </p:nvSpPr>
        <p:spPr>
          <a:xfrm>
            <a:off x="2834640" y="4773168"/>
            <a:ext cx="8778240" cy="566928"/>
          </a:xfrm>
          <a:prstGeom prst="rect">
            <a:avLst/>
          </a:prstGeom>
          <a:noFill/>
        </p:spPr>
        <p:txBody>
          <a:bodyPr wrap="square">
            <a:spAutoFit/>
          </a:bodyPr>
          <a:lstStyle/>
          <a:p>
            <a:r>
              <a:rPr sz="1050" b="0">
                <a:solidFill>
                  <a:srgbClr val="0B0B0B"/>
                </a:solidFill>
                <a:latin typeface="Calibri"/>
              </a:rPr>
              <a:t>13/09/2026 - status ok; vitrine 0 de 1743; obs: fontes indisponiveis -&gt; playwright: nenhum fundo identificado em https://www.itau.com.br/investimentos/fundos/rentabilid</a:t>
            </a:r>
          </a:p>
        </p:txBody>
      </p:sp>
      <p:sp>
        <p:nvSpPr>
          <p:cNvPr id="18" name="TextBox 17"/>
          <p:cNvSpPr txBox="1"/>
          <p:nvPr/>
        </p:nvSpPr>
        <p:spPr>
          <a:xfrm>
            <a:off x="548640" y="5340096"/>
            <a:ext cx="2194560" cy="365760"/>
          </a:xfrm>
          <a:prstGeom prst="rect">
            <a:avLst/>
          </a:prstGeom>
          <a:noFill/>
        </p:spPr>
        <p:txBody>
          <a:bodyPr wrap="square">
            <a:spAutoFit/>
          </a:bodyPr>
          <a:lstStyle/>
          <a:p>
            <a:r>
              <a:rPr sz="1100" b="1">
                <a:solidFill>
                  <a:srgbClr val="52514E"/>
                </a:solidFill>
                <a:latin typeface="Calibri"/>
              </a:rPr>
              <a:t>nu</a:t>
            </a:r>
          </a:p>
        </p:txBody>
      </p:sp>
      <p:sp>
        <p:nvSpPr>
          <p:cNvPr id="19" name="TextBox 18"/>
          <p:cNvSpPr txBox="1"/>
          <p:nvPr/>
        </p:nvSpPr>
        <p:spPr>
          <a:xfrm>
            <a:off x="2834640" y="5340096"/>
            <a:ext cx="8778240" cy="566928"/>
          </a:xfrm>
          <a:prstGeom prst="rect">
            <a:avLst/>
          </a:prstGeom>
          <a:noFill/>
        </p:spPr>
        <p:txBody>
          <a:bodyPr wrap="square">
            <a:spAutoFit/>
          </a:bodyPr>
          <a:lstStyle/>
          <a:p>
            <a:r>
              <a:rPr sz="1050" b="0">
                <a:solidFill>
                  <a:srgbClr val="0B0B0B"/>
                </a:solidFill>
                <a:latin typeface="Calibri"/>
              </a:rPr>
              <a:t>13/09/2026 - status ok; vitrine 0 de 468</a:t>
            </a:r>
          </a:p>
        </p:txBody>
      </p:sp>
      <p:sp>
        <p:nvSpPr>
          <p:cNvPr id="20" name="TextBox 19"/>
          <p:cNvSpPr txBox="1"/>
          <p:nvPr/>
        </p:nvSpPr>
        <p:spPr>
          <a:xfrm>
            <a:off x="548640" y="5907024"/>
            <a:ext cx="2194560" cy="365760"/>
          </a:xfrm>
          <a:prstGeom prst="rect">
            <a:avLst/>
          </a:prstGeom>
          <a:noFill/>
        </p:spPr>
        <p:txBody>
          <a:bodyPr wrap="square">
            <a:spAutoFit/>
          </a:bodyPr>
          <a:lstStyle/>
          <a:p>
            <a:r>
              <a:rPr sz="1100" b="1">
                <a:solidFill>
                  <a:srgbClr val="52514E"/>
                </a:solidFill>
                <a:latin typeface="Calibri"/>
              </a:rPr>
              <a:t>inter</a:t>
            </a:r>
          </a:p>
        </p:txBody>
      </p:sp>
      <p:sp>
        <p:nvSpPr>
          <p:cNvPr id="21" name="TextBox 20"/>
          <p:cNvSpPr txBox="1"/>
          <p:nvPr/>
        </p:nvSpPr>
        <p:spPr>
          <a:xfrm>
            <a:off x="2834640" y="5907024"/>
            <a:ext cx="8778240" cy="566928"/>
          </a:xfrm>
          <a:prstGeom prst="rect">
            <a:avLst/>
          </a:prstGeom>
          <a:noFill/>
        </p:spPr>
        <p:txBody>
          <a:bodyPr wrap="square">
            <a:spAutoFit/>
          </a:bodyPr>
          <a:lstStyle/>
          <a:p>
            <a:r>
              <a:rPr sz="1050" b="0">
                <a:solidFill>
                  <a:srgbClr val="0B0B0B"/>
                </a:solidFill>
                <a:latin typeface="Calibri"/>
              </a:rPr>
              <a:t>13/09/2026 - status ok; vitrine 466 de 466; obs: fontes indisponiveis -&gt; open-finance: HTTP 500 em https://api.openbanking.bancointer.com.br/open-banking/opendata-invest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