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pi.com.br/investimentos/fundos-de-investimento/lista/" TargetMode="External"/><Relationship Id="rId3" Type="http://schemas.openxmlformats.org/officeDocument/2006/relationships/hyperlink" Target="https://investimentos.btgpactual.com/fundos-de-investimento/produtos" TargetMode="External"/><Relationship Id="rId4" Type="http://schemas.openxmlformats.org/officeDocument/2006/relationships/hyperlink" Target="https://www.itau.com.br/investimentos/fundos/rentabilidade" TargetMode="External"/><Relationship Id="rId5" Type="http://schemas.openxmlformats.org/officeDocument/2006/relationships/hyperlink" Target="https://inter.co/pra-voce/investimentos/fundos-de-investimento/" TargetMode="External"/><Relationship Id="rId6" Type="http://schemas.openxmlformats.org/officeDocument/2006/relationships/hyperlink" Target="https://openfinancebrasil.atlassian.net/wiki/spaces/OF/overview" TargetMode="External"/><Relationship Id="rId7" Type="http://schemas.openxmlformats.org/officeDocument/2006/relationships/hyperlink" Target="https://dados.cvm.gov.br/dataset/fi-cad" TargetMode="External"/><Relationship Id="rId8" Type="http://schemas.openxmlformats.org/officeDocument/2006/relationships/hyperlink" Target="https://dados.cvm.gov.br/dataset/fi-doc-inf_diario" TargetMode="External"/><Relationship Id="rId9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Prateleiras de fundos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25/09/2026 -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775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6.660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2.045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114800"/>
          <a:ext cx="5943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5661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Fundos de varejo que só ela oferta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17440"/>
                <a:gridCol w="1536699"/>
                <a:gridCol w="1536699"/>
                <a:gridCol w="1536699"/>
                <a:gridCol w="153669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256A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Estruturado (sem classificação ANBIMA)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Dinâmico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Gaps de prateleira - o que os concorrentes vitrinam e a XP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 de varejo na vitrine de 1+ concorrente e fora da vitrine da XP (por CNPJ); o catálogo Open Finance não conta em nenhum dos 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FUNDOS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fora da vitrine XP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EM 2+ VITRINES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mais de uma casa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VITRINE DA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4708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base de comparação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Maiores gaps (pelo que dá para incluir)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68580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371600"/>
                <a:gridCol w="1097280"/>
                <a:gridCol w="914400"/>
                <a:gridCol w="10058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Captação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Esforço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Safra Inteligencia Artificial 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+769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Mapfre Confianza Plus FIRF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Baixa Grau de Invest.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+314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Kinea Atacama FIRF RL Subclasse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+108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Itau Artax Endurance Dist. FICFIM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V8 Mercury FIRF LP CrPr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AZ QUEST TR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L/S - Direcional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ALPHA GLOBAL FIC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Estrat. Específica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Pactual, 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+63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ABSOLUTE HIDRA IPCA NTNB35 FIF EM COTAS DE FUNDOS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inclusão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80960" y="2834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Categorias em déficit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80960" y="3200400"/>
          <a:ext cx="39319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57200"/>
                <a:gridCol w="1280160"/>
                <a:gridCol w="548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Melhor conc.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Gaps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(105)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 (52)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Invest. no Exterior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98781"/>
                </a:solidFill>
                <a:latin typeface="Calibri"/>
              </a:rPr>
              <a:t>Fora do universo: Nu (Nubank) (sem vitrine pública coletada; o catálogo Open Finance não conta como oferta). Lista completa na planilha (aba Gaps XP).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1216096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86728" y="2103120"/>
            <a:ext cx="6261271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275432" y="2103120"/>
            <a:ext cx="30417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70048"/>
            <a:ext cx="1381900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52532" y="2670048"/>
            <a:ext cx="609546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48584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(íon)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236976"/>
            <a:ext cx="1867469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8101" y="3236976"/>
            <a:ext cx="3501821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0506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Banco Inter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803904"/>
            <a:ext cx="22127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91905" y="3803904"/>
            <a:ext cx="4615075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4413" y="3803904"/>
            <a:ext cx="600254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5251" y="3767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Custo relativo à categoria e 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Índice 1,00x = exatamente a mediana da categoria de cada fundo; o que decide é a diferença ENTRE as casas, não a distância de 1,00x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5939"/>
                <a:gridCol w="1669773"/>
                <a:gridCol w="1043608"/>
                <a:gridCol w="1147969"/>
                <a:gridCol w="1774134"/>
                <a:gridCol w="166977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Índice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Caros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Baratos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Resgate até D+1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Ticket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R$ 500,95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Índice = taxa do fundo dividida pela mediana da MESMA categoria no universo de varejo da CVM. Nenhuma casa cobra 60% acima do mercado: a vitrine exibe a classe de varejo, que carrega a camada de distribuição, e o universo inclui classes sem 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24/09/2026 -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24/09/2026: XP Investimentos -R$ 1,4 bi (-0,43% do PL de início), BTG Pactual +R$ 2,7 bi (+0,71%).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que outra casa também exibe: XP Investimentos +R$ 1,5 bi, BTG Pactual +R$ 722 mi. Fundos que só a própria casa exibe: XP Investimentos -R$ 2,9 bi, BTG Pactual +R$ 2,0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(-R$ 4,1 bi) vem de Renda Fixa (-R$ 2,7 bi) e Multimercados (-R$ 1,7 bi).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Fundos da gestora da própria casa: XP Investimentos -R$ 342 mi, BTG Pactual +R$ 3,0 bi. De terceiros: XP Investimentos -R$ 1,1 bi, BTG Pactual -R$ 278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23360"/>
          <a:ext cx="1106423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609"/>
                <a:gridCol w="2032207"/>
                <a:gridCol w="2032207"/>
                <a:gridCol w="2032207"/>
                <a:gridCol w="225800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+4.803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+2.133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+827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+3.811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+51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Cambial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-1.333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-931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-1.540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-1.896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-815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-2.545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-2.130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-4.103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Legacy Capital V10 Master FIF CIC Multimercado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Crédito Corporativo Plus Seleção Subclasse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Radar CVM - visão antecipada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Fundos registrados por gestoras ligadas às casas; pré-operacional = registrado e ainda não lançado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857998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272"/>
                <a:gridCol w="1870363"/>
                <a:gridCol w="1870363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Registrados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Pré-operacionais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4.414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84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Registros pré-operacionais mais recentes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95928"/>
          <a:ext cx="11064239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3647"/>
                <a:gridCol w="1518621"/>
                <a:gridCol w="2820296"/>
                <a:gridCol w="130167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Gestora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52514E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BAHIA AM UNA SELEÇAO FIF CIC MULTIMERCADO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NOVO FC DE FUNDOS INCENTIVADOS DE INVESTIMENTO FINANCEIRO EM INFR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ACS V8 MERCURY PREVIDÊNCIA FIF EM COTAS DE FUNDOS DE INVESTIMENTO 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BTG PACTUAL GESTÃO E CONSULTORIA DE INVE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BRIGHTON KINEA FIF - FUNDO INCENTIVADO EM INVESTIMENTO EM DEB DE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KINEA INVESTIMENTOS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VÉRTICE PREV DUAL GLOBAL FIF MULT CP RESP LIMITADA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Itaú (íon)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ITAU UNIBANCO ASSET MANAGEMENT LTDA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CONSIGNADOS FUNDO DE INVESTIMENTO EM DIREITOS CREDITÓRIOS - RESPONS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XP VISTA ASSET MANAGEMENT LTDA.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B0B0B"/>
                          </a:solidFill>
                          <a:latin typeface="Calibri"/>
                        </a:rPr>
                        <a:t>2026-09-22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(3.645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9.255 de 13.576 fundos identificáveis (68%); a gestora vem do registro em 9.253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664 de 783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636 de 10.160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(íon)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458 de 2.180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0 de 468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25/09/2026 - status ok; vitrine 466 de 466; obs: fontes indisponíveis -&gt; open-finance: HTTP 500 em https://api.openbanking.bancointer.com.br/open-banking/opendata-invest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https://www.xpi.com.br/investimentos/fundos-de-investimento/lista/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https://investimentos.btgpactual.com/fundos-de-investimento/produtos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(íon)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https://www.itau.com.br/investimentos/fundos/rentabilidade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Vitrine - Banco Inter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https://inter.co/pra-voce/investimentos/fundos-de-investimento/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Open Finance Brasil - dados abertos de investimentos</a:t>
            </a:r>
            <a:r>
              <a:rPr sz="1100">
                <a:latin typeface="Calibri"/>
              </a:rPr>
              <a:t> - catálogo de fundos que cada instituição administra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https://openfinancebrasil.atlassian.net/wiki/spaces/OF/overview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8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474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00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9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