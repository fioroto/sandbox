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pi.com.br/investimentos/fundos-de-investimento/lista/" TargetMode="External"/><Relationship Id="rId3" Type="http://schemas.openxmlformats.org/officeDocument/2006/relationships/hyperlink" Target="https://investimentos.btgpactual.com/fundos-de-investimento/produtos" TargetMode="External"/><Relationship Id="rId4" Type="http://schemas.openxmlformats.org/officeDocument/2006/relationships/hyperlink" Target="https://www.itau.com.br/investimentos/fundos/rentabilidade" TargetMode="External"/><Relationship Id="rId5" Type="http://schemas.openxmlformats.org/officeDocument/2006/relationships/hyperlink" Target="https://inter.co/pra-voce/investimentos/fundos-de-investimento/" TargetMode="External"/><Relationship Id="rId6" Type="http://schemas.openxmlformats.org/officeDocument/2006/relationships/hyperlink" Target="https://openfinancebrasil.atlassian.net/wiki/spaces/OF/overview" TargetMode="External"/><Relationship Id="rId7" Type="http://schemas.openxmlformats.org/officeDocument/2006/relationships/hyperlink" Target="https://dados.cvm.gov.br/dataset/fi-cad" TargetMode="External"/><Relationship Id="rId8" Type="http://schemas.openxmlformats.org/officeDocument/2006/relationships/hyperlink" Target="https://dados.cvm.gov.br/dataset/fi-doc-inf_diario" TargetMode="External"/><Relationship Id="rId9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24/09/2026 -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774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6.631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2.043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só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classificação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catálogo Open Finance não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dá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Captação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Esforço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+757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+306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+104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TR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ALPHA GLOBAL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déficit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pública coletada; o catálogo Open Finance não conta como oferta).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1985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90485" y="2103120"/>
            <a:ext cx="625651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74430" y="2103120"/>
            <a:ext cx="305177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615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6790" y="2670048"/>
            <a:ext cx="6113965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1340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(íon)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1315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1947" y="3236976"/>
            <a:ext cx="3512483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5014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2025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2657" y="3803904"/>
            <a:ext cx="462910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49190" y="3803904"/>
            <a:ext cx="602150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1925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à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Índice 1,00x = exatamente a mediana da categoria de cada fundo; o que decide é a diferença ENTRE as casas, não a distância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Índice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até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Índice = taxa do fundo dividida pela mediana da MESMA categoria no universo de varejo da CVM. Nenhuma casa cobra 60% acima do mercado: a vitrine exibe a classe de varejo, que carrega a camada de distribuição,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23/09/2026 -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23/09/2026: XP Investimentos -R$ 1,3 bi (-0,41% do PL de início), BTG Pactual +R$ 3,0 bi (+0,77%).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que outra casa também exibe: XP Investimentos +R$ 1,4 bi, BTG Pactual +R$ 690 mi. Fundos que só a própria casa exibe: XP Investimentos -R$ 2,8 bi, BTG Pactual +R$ 2,3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(-R$ 4,3 bi) vem de Renda Fixa (-R$ 2,9 bi) e Multimercados (-R$ 1,7 bi); Ações vai no sentido contrário (+R$ 430 mi).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da gestora da própria casa: XP Investimentos -R$ 288 mi, BTG Pactual +R$ 3,3 bi. De terceiros: XP Investimentos -R$ 1,0 bi, BTG Pactual -R$ 333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23360"/>
          <a:ext cx="1106423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609"/>
                <a:gridCol w="2032207"/>
                <a:gridCol w="2032207"/>
                <a:gridCol w="2032207"/>
                <a:gridCol w="225800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+5.139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+2.232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+4.219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Cambial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-1.347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-918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-1.543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-1.894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-887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-2.592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-2.133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-4.059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Experience Infra 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CDI Faseado Infra FICFIRF, Bradesco Dana FIM CP RL, SPX Stonehawk FIM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Dual Private Markets Multimercado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visão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às casas; pré-operacional = registrado e ainda não lançado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Pré-operacionais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pré-operacionais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BRIGHTON KINEA FIF - FUNDO INCENTIVADO EM INVESTIMENTO EM DEB DE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KINEA INVESTIMENTOS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VÉRTICE PREV DUAL GLOBAL FIF MULT CP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GOLD OIL SFA FIF RENDA FIXA CRÉDITO PRIVADO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CONSIGNADOS FUNDO DE INVESTIMENTO EM DIREITOS CREDITÓRIOS - RESPONS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VÉRTICE OAHU FUNDO DE INVESTIMENTO FINANCEIRO MULTIMERCADO RESPON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FLEXPREV DUAL GLOBAL PRIVATE MARKETS FIF MULTIMERCADO CRÉDITO PRI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(3.603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9.184 de 13.503 fundos identificáveis (68%); a gestora vem do registro em 9.183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662 de 782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636 de 10.089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457 de 2.178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466 de 466; obs: fontes indisponiveis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https://www.xpi.com.br/investimentos/fundos-de-investimento/lista/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https://investimentos.btgpactual.com/fundos-de-investimento/produtos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(íon)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https://www.itau.com.br/investimentos/fundos/rentabilidade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Vitrine - Banco Inter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https://inter.co/pra-voce/investimentos/fundos-de-investimento/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Open Finance Brasil - dados abertos de investimentos</a:t>
            </a:r>
            <a:r>
              <a:rPr sz="1100">
                <a:latin typeface="Calibri"/>
              </a:rPr>
              <a:t> - catálogo de fundos que cada instituição administra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https://openfinancebrasil.atlassian.net/wiki/spaces/OF/overview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8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00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9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