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Calibri"/>
              </a:rPr>
              <a:t>Prateleiras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2514E"/>
                </a:solidFill>
                <a:latin typeface="Calibri"/>
              </a:rPr>
              <a:t>Leitura competitiva das vitrines de varejo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98781"/>
                </a:solidFill>
                <a:latin typeface="Calibri"/>
              </a:rPr>
              <a:t>Coleta de 21/09/2026 - casas: xp, btg, itau, nu, 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 vitrine em numeros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Vitrine = a listagem que o cliente ve na casa; catalogo = tudo que ela administra (Open Finance)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XP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773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BTG PACTUAL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6.618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ITAU (ION)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2.042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BANCO 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0B0B"/>
                </a:solidFill>
                <a:latin typeface="Calibri"/>
              </a:rPr>
              <a:t>Fundos so nesta vitrine (por CNPJ)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14800"/>
          <a:ext cx="5943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566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Fundos de varejo que so ela oferta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Matriz vitrine - casa x classe ANBIMA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Classificacao oficial (join por CNPJ com o registro CVM); mais escuro = mais fundos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6" cy="3803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7440"/>
                <a:gridCol w="1536699"/>
                <a:gridCol w="1536699"/>
                <a:gridCol w="1536699"/>
                <a:gridCol w="15366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Classe ANBIMA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Estruturado (sem classificacao ANBIMA)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Dinâmico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Gaps de prateleira - o que os concorrentes vitrinam e a XP nao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 de varejo na vitrine de 1+ concorrente e fora da vitrine da XP (por CNPJ); o catalogo Open Finance nao conta em nenhum dos 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FUNDOS DE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fora da vitrine XP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EM 2+ VITRINES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mais de uma casa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VITRINE DA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base de comparacao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Maiores gaps (pelo que da para incluir)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00400"/>
          <a:ext cx="6858000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371600"/>
                <a:gridCol w="1097280"/>
                <a:gridCol w="91440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Captacao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Esforco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Safra Inteligencia Artificial FIM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+730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Mapfre Confianza Plus FIRF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+276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Kinea Atacama FIRF RL Subclasse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+95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 Artax Endurance Dist. FICFIM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+84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V8 Mercury FIRF LP CrPr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+71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AZ QUEST TR FIC FIM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+64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ALPHA GLOBAL FIC FIM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+60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HIDRA IPCA NTNB35 FIF EM COTAS DE FUNDOS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Previdência RF Duração Livre Crédito Liv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+52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inclusao 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Categorias em deficit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0" y="3200400"/>
          <a:ext cx="39319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457200"/>
                <a:gridCol w="1280160"/>
                <a:gridCol w="5486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Melhor conc.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Banco Inter (53)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98781"/>
                </a:solidFill>
                <a:latin typeface="Calibri"/>
              </a:rPr>
              <a:t>Fora do universo: Nu (Nubank) (sem vitrine publica coletada; o catalogo Open Finance nao conta como oferta). Lista completa na planilha (aba Gaps XP).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Arquitetura aberta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Produto de gestora da propria casa vs. de terceiros, na vitrine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Gestora da casa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Terceiros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17320"/>
            <a:ext cx="164592" cy="16459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Sem gestor identificado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4825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XP Investimentos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123978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0415" y="2103120"/>
            <a:ext cx="6249428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87275" y="2103120"/>
            <a:ext cx="292332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0192" y="2066543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BTG Pactual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670048"/>
            <a:ext cx="13819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52532" y="2670048"/>
            <a:ext cx="6071781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4898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Itau (Ion)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236976"/>
            <a:ext cx="1867469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8101" y="3236976"/>
            <a:ext cx="3501821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0506" y="32004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Banco 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803904"/>
            <a:ext cx="22127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91905" y="3803904"/>
            <a:ext cx="4579546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98884" y="3803904"/>
            <a:ext cx="635783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5251" y="3767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"Gestora da casa" segue a mesma watchlist do radar CVM - a definicao e uma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Custo relativo a categoria e ticket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Indice 1,00x = exatamente a mediana da categoria de cada fundo; o que decide e a diferenca ENTRE as casas, nao a distancia de 1,00x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9601196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5939"/>
                <a:gridCol w="1669773"/>
                <a:gridCol w="1043608"/>
                <a:gridCol w="1147969"/>
                <a:gridCol w="1774134"/>
                <a:gridCol w="166977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Indice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Caros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Baratos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Resgate ate D+1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Ticket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9992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Indice = taxa do fundo dividida pela mediana da MESMA categoria no universo de varejo da CVM. Nenhuma casa cobra 60% acima do mercado: a vitrine exibe a classe de varejo, que carrega a camada de distribuicao, e o universo inclui classes sem 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Movimentos desde a coleta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Entradas e saidas por casa; coletas suspeitas nao geram churn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7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65"/>
                <a:gridCol w="1177046"/>
                <a:gridCol w="1177046"/>
                <a:gridCol w="70622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Entradas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Saidas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Observacao / exemplos de entrada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Radar CVM - visao antecipada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Fundos registrados por gestoras ligadas as casas; pre-operacional = registrado e ainda nao lancado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857998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7272"/>
                <a:gridCol w="1870363"/>
                <a:gridCol w="187036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Registrados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Pre-operacionais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4.404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Nu (Nubank)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844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Registros pre-operacionais mais recentes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95928"/>
          <a:ext cx="11064239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23647"/>
                <a:gridCol w="1518621"/>
                <a:gridCol w="2820296"/>
                <a:gridCol w="130167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Gestora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94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95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CRA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INDIANA II FUNDO DE INVESTIMENTO FINANCEIRO MULTIMERCADO CRÉDITO PRIVA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UNIBANCO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FEEDER I FUNDO DE INVESTIMENTO FINANCEIRO MULTIMERCADO CRÉ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ASSET MANAGEMENT S/A DTVM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STRATEGY FI FINANCEIRO MULTIMERCADO CRÉDITO PRIVADO PREVIDENCIÁRIO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GESTÃO DE RECURSOS LTDA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Metodologia e proveniencia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 presente no canal da propria casa (site, API do portal ou area logada). Open Finance = catalogo regulatorio, usado para enriquecer e como referencia.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Perfil de varejo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3852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fundos exclusivos/restritos (3.602 nesta coleta) ficam fora de toda analise; o inventario deles esta na aba 'Restritos (auxiliar)' da planilha e no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Precedencia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0545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Open Finance &gt; area logada &gt; API do portal &gt; navegador &gt; HTML; fontes que faltam preenchem, nunca sobrescrevem.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Normalizacao ANBIMA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7238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join com o registro oficial CVM por CNPJ e por codigo: 9167 de 13486 fundos identificaveis (68%); a gestora vem do registro em 9.166 deles.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393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39312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664 de 781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btg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0624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634 de 10073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731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itau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7316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458 de 2179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4009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0 de 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07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90702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466 de 466; obs: fontes indisponiveis -&gt; open-finance: HTTP 500 em https://api.openbanking.bancointer.com.br/open-banking/opendata-invest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