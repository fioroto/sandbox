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920240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0B0B0B"/>
                </a:solidFill>
                <a:latin typeface="Calibri"/>
              </a:rPr>
              <a:t>Prateleiras de fundos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2514E"/>
                </a:solidFill>
                <a:latin typeface="Calibri"/>
              </a:rPr>
              <a:t>Leitura competitiva das vitrines de varejo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98781"/>
                </a:solidFill>
                <a:latin typeface="Calibri"/>
              </a:rPr>
              <a:t>Coleta de 20/09/2026 - casas: xp, btg, itau, nu, inter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A vitrine em numeros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Vitrine = a listagem que o cliente ve na casa; catalogo = tudo que ela administra (Open Finance)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XP INVESTIMENTOS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664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773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BTG PACTUAL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634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6.604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ITAU (ION)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458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2.042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BANCO INTER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466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466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0B0B"/>
                </a:solidFill>
                <a:latin typeface="Calibri"/>
              </a:rPr>
              <a:t>Diferenciais na vitrine (por CNPJ)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4114800"/>
          <a:ext cx="5943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56616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Fundos de varejo que so ela oferta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Matriz vitrine - casa x classe ANBIMA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Classificacao oficial (join por CNPJ com o registro CVM); mais escuro = mais fundos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36" cy="3803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17440"/>
                <a:gridCol w="1536699"/>
                <a:gridCol w="1536699"/>
                <a:gridCol w="1536699"/>
                <a:gridCol w="1536699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Classe ANBIMA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Ações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3987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>
                    <a:solidFill>
                      <a:srgbClr val="3987E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>
                    <a:solidFill>
                      <a:srgbClr val="3987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>
                    <a:solidFill>
                      <a:srgbClr val="3987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>
                    <a:solidFill>
                      <a:srgbClr val="3987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89878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Acoes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89878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89878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115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89878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89878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Ações Invest. no Exterior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Baixa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Invest. no Exterior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classificacao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89878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Gaps de prateleira - o que os concorrentes vitrinam e a XP nao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Fundo de varejo na vitrine de 1+ concorrente e fora da vitrine da XP (por CNPJ); o catalogo Open Finance nao conta em nenhum dos lados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361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FUNDOS DE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4708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  <a:latin typeface="Calibri"/>
              </a:rPr>
              <a:t>618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fora da vitrine XP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1732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5361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EM 2+ VITRINES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84708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  <a:latin typeface="Calibri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mais de uma casa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361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VITRINE DA XP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4708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  <a:latin typeface="Calibri"/>
              </a:rPr>
              <a:t>664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base de comparacao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0B0B"/>
                </a:solidFill>
                <a:latin typeface="Calibri"/>
              </a:rPr>
              <a:t>Maiores gaps (por presenca)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48640" y="3200400"/>
          <a:ext cx="6857998" cy="26334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76292"/>
                <a:gridCol w="1421780"/>
                <a:gridCol w="1170878"/>
                <a:gridCol w="836341"/>
                <a:gridCol w="752707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Categoria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Casas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Menor min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Menor taxa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YIELD DI FI RF REF 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CRED CORP I FIQ DE FI RF CP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ABSOLUTE HIDRA CDI FIC FIRF RF INVES EM INFRA 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Baixa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ABSOLUTE PACE LONG BIASED FIC DE FIA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Ações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SOLIS CAPITAL ANTARES CP FIC DE FIM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Direitos Creditórios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Itau (Ion)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R$ 1.000.000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INTER CONSERVADOR FUNDO DE INVESTIMENTO RF 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Baixa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Root Capital High Yield FICFIM CrPr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1,45%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AZ QUEST LUCE FIC FI RF CP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680960" y="283464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0B0B"/>
                </a:solidFill>
                <a:latin typeface="Calibri"/>
              </a:rPr>
              <a:t>Categorias em deficit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680960" y="3200400"/>
          <a:ext cx="39319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457200"/>
                <a:gridCol w="1280160"/>
                <a:gridCol w="54864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Categoria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Melhor conc.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Gaps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Ações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(109)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(91)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(101)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Itau (Ion) (169)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Banco Inter (42)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898781"/>
                </a:solidFill>
                <a:latin typeface="Calibri"/>
              </a:rPr>
              <a:t>Fora do universo: Nu (Nubank) (sem vitrine publica coletada; o catalogo Open Finance nao conta como oferta). Lista completa na planilha (aba Gaps XP).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Arquitetura aberta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Produto de gestora da propria casa vs. de terceiros, na vitrine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64592" cy="1645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3441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Gestora da casa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417320"/>
            <a:ext cx="164592" cy="16459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82112" y="13441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Terceiros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1417320"/>
            <a:ext cx="164592" cy="164592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3441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Sem gestor identificado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48255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XP Investimentos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2103120"/>
            <a:ext cx="1251626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2258" y="2103120"/>
            <a:ext cx="6249428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99118" y="2103120"/>
            <a:ext cx="280489" cy="2743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80192" y="2066543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664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1518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BTG Pactual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2670048"/>
            <a:ext cx="1358214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8846" y="2670048"/>
            <a:ext cx="6095467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24898" y="26334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634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821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Itau (Ion)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3236976"/>
            <a:ext cx="1879312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49944" y="3236976"/>
            <a:ext cx="3489978" cy="2743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0506" y="320040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458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749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Banco Inter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3803904"/>
            <a:ext cx="221273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91905" y="3803904"/>
            <a:ext cx="4579546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98884" y="3803904"/>
            <a:ext cx="635783" cy="2743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5251" y="376732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466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645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"Gestora da casa" segue a mesma watchlist do radar CVM - a definicao e uma 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Custo e ticket de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Quartis da taxa de administracao e mediana do minimo - quartis mostram a forma da prateleira; media esconderia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9601199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4600"/>
                <a:gridCol w="1143000"/>
                <a:gridCol w="1371600"/>
                <a:gridCol w="1143000"/>
                <a:gridCol w="1828800"/>
                <a:gridCol w="1600199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Taxa q1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Taxa mediana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Taxa q3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Minimo mediano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Cobertura CNPJ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0,02%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0,02%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0,08%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0,80%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1,40%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R$ 500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918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Taxa e a maxima publicada pela casa (mesma semantica do maxAdminFee do Open Finance). Celulas vazias = a fonte nao publica o campo.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Movimentos desde a coleta anterior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Entradas e saidas por casa; coletas suspeitas nao geram churn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37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7865"/>
                <a:gridCol w="1177046"/>
                <a:gridCol w="1177046"/>
                <a:gridCol w="706228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Entradas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Saidas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Observacao / exemplos de entrada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nu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Metodologia e proveniencia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Vitrine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71600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fundo presente no canal da propria casa (site, API do portal ou area logada). Open Finance = catalogo regulatorio, usado para enriquecer e como referencia.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385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Perfil de varejo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938528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fundos exclusivos/restritos (3.616 nesta coleta) ficam fora de toda analise; o inventario deles esta na aba 'Restritos (auxiliar)' da planilha e no dashboard.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Precedencia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05456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Open Finance &gt; area logada &gt; API do portal &gt; navegador &gt; HTML; fontes que faltam preenchem, nunca sobrescrevem.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723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Normalizacao ANBIMA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072384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join com o registro oficial CVM por CNPJ e por codigo: 9200 de 13486 fundos identificaveis (68%); a gestora vem do registro em 9.199 deles.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3931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xp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639312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668 de 781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6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btg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206240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660 de 10073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7316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itau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773168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459 de 2179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009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5340096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0 de 468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0702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inter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907024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466 de 466; obs: fontes indisponiveis -&gt; open-finance: HTTP 500 em https://api.openbanking.bancointer.com.br/open-banking/opendata-invest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