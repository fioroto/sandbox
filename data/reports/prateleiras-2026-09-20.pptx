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920240"/>
            <a:ext cx="14630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B0B0B"/>
                </a:solidFill>
                <a:latin typeface="Calibri"/>
              </a:rPr>
              <a:t>Prateleiras de fundos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2514E"/>
                </a:solidFill>
                <a:latin typeface="Calibri"/>
              </a:rPr>
              <a:t>Leitura competitiva das vitrines de varejo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98781"/>
                </a:solidFill>
                <a:latin typeface="Calibri"/>
              </a:rPr>
              <a:t>Coleta de 20/09/2026 - casas: xp, btg, itau, nu, inter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A vitrine em numeros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Vitrine = a listagem que o cliente ve na casa; catalogo = tudo que ela administra (Open Finance)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XP INVESTIMENTOS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664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catalogo: 773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BTG PACTUAL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634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catalogo: 6.618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ITAU (ION)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458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catalogo: 2.042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BANCO INTER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466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catalogo: 466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0B0B"/>
                </a:solidFill>
                <a:latin typeface="Calibri"/>
              </a:rPr>
              <a:t>Fundos so nesta vitrine (por CNPJ)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48640" y="4114800"/>
          <a:ext cx="594360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356616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Fundos de varejo que so ela oferta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337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Itau (Ion)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Banco 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Matriz vitrine - casa x classe ANBIMA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Classificacao oficial (join por CNPJ com o registro CVM); mais escuro = mais fundos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36" cy="38039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17440"/>
                <a:gridCol w="1536699"/>
                <a:gridCol w="1536699"/>
                <a:gridCol w="1536699"/>
                <a:gridCol w="1536699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Classe ANBIMA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Itau (Ion)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Banco Inter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Ações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93</a:t>
                      </a:r>
                    </a:p>
                  </a:txBody>
                  <a:tcPr>
                    <a:solidFill>
                      <a:srgbClr val="184F9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114</a:t>
                      </a:r>
                    </a:p>
                  </a:txBody>
                  <a:tcPr>
                    <a:solidFill>
                      <a:srgbClr val="0D36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>
                    <a:solidFill>
                      <a:srgbClr val="256A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105</a:t>
                      </a:r>
                    </a:p>
                  </a:txBody>
                  <a:tcPr>
                    <a:solidFill>
                      <a:srgbClr val="0D366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>
                    <a:solidFill>
                      <a:srgbClr val="256A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>
                    <a:solidFill>
                      <a:srgbClr val="0D36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>
                    <a:solidFill>
                      <a:srgbClr val="184F9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>
                    <a:solidFill>
                      <a:srgbClr val="256AB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Crédito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104</a:t>
                      </a:r>
                    </a:p>
                  </a:txBody>
                  <a:tcPr>
                    <a:solidFill>
                      <a:srgbClr val="0D36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105</a:t>
                      </a:r>
                    </a:p>
                  </a:txBody>
                  <a:tcPr>
                    <a:solidFill>
                      <a:srgbClr val="0D36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>
                    <a:solidFill>
                      <a:srgbClr val="256A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Macro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>
                    <a:solidFill>
                      <a:srgbClr val="3987E5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Invest. no Exterior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Grau de Invest.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Ações Invest. no Exterior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Baixa Grau de Invest.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Estrat. Específica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Estruturado (sem classificacao ANBIMA)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L/S - Direcional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Dinâmico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Gaps de prateleira - o que os concorrentes vitrinam e a XP nao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Fundo de varejo na vitrine de 1+ concorrente e fora da vitrine da XP (por CNPJ); o catalogo Open Finance nao conta em nenhum dos lados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FUNDOS DE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4708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0B0B"/>
                </a:solidFill>
                <a:latin typeface="Calibri"/>
              </a:rPr>
              <a:t>618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fora da vitrine XP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41732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53619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EM 2+ VITRINES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84708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0B0B"/>
                </a:solidFill>
                <a:latin typeface="Calibri"/>
              </a:rPr>
              <a:t>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3774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mais de uma casa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1732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3619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VITRINE DA XP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4708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0B0B"/>
                </a:solidFill>
                <a:latin typeface="Calibri"/>
              </a:rPr>
              <a:t>664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774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base de comparacao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346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0B0B"/>
                </a:solidFill>
                <a:latin typeface="Calibri"/>
              </a:rPr>
              <a:t>Maiores gaps (pelo que da para incluir)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640" y="3200400"/>
          <a:ext cx="6858000" cy="26334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/>
                <a:gridCol w="1371600"/>
                <a:gridCol w="1097280"/>
                <a:gridCol w="914400"/>
                <a:gridCol w="100584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Fundo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Categoria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Casas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Captacao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Esforco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Safra Inteligencia Artificial FIM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Estrat. Específica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+730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inclusao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Mapfre Confianza Plus FIRF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Baixa Grau de Invest.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+276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inclusao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Kinea Atacama FIRF RL Subclasse 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Crédito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+95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inclusao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Itau Artax Endurance Dist. FICFIM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+84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inclusao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V8 Mercury FIRF LP CrPr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Crédito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+71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inclusao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AZ QUEST TR FIC FIM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L/S - Direcional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Pactual, Banco 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+64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inclusao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ABSOLUTE ALPHA GLOBAL FIC FIM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Estrat. Específica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Pactual, Banco 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+60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inclusao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ABSOLUTE HIDRA IPCA NTNB35 FIF EM COTAS DE FUNDOS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Livre Crédito Liv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+52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inclusao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680960" y="28346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0B0B"/>
                </a:solidFill>
                <a:latin typeface="Calibri"/>
              </a:rPr>
              <a:t>Categorias em deficit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680960" y="3200400"/>
          <a:ext cx="3931920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457200"/>
                <a:gridCol w="1280160"/>
                <a:gridCol w="54864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Categoria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XP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Melhor conc.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Gaps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Ações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 (114)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 (99)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Crédito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 (105)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Macro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Banco Inter (53)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Invest. no Exterior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 (45)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98781"/>
                </a:solidFill>
                <a:latin typeface="Calibri"/>
              </a:rPr>
              <a:t>Fora do universo: Nu (Nubank) (sem vitrine publica coletada; o catalogo Open Finance nao conta como oferta). Lista completa na planilha (aba Gaps XP).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Arquitetura aberta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Produto de gestora da propria casa vs. de terceiros, na vitrine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64592" cy="1645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44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Gestora da casa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417320"/>
            <a:ext cx="164592" cy="16459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82112" y="1344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Terceiros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417320"/>
            <a:ext cx="164592" cy="164592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59552" y="1344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Sem gestor identificado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48255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B"/>
                </a:solidFill>
                <a:latin typeface="Calibri"/>
              </a:rPr>
              <a:t>XP Investimentos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2103120"/>
            <a:ext cx="1239783" cy="274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10415" y="2103120"/>
            <a:ext cx="6249428" cy="274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287275" y="2103120"/>
            <a:ext cx="292332" cy="27432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80192" y="2066543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664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6151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B"/>
                </a:solidFill>
                <a:latin typeface="Calibri"/>
              </a:rPr>
              <a:t>BTG Pactual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2670048"/>
            <a:ext cx="1381900" cy="274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52532" y="2670048"/>
            <a:ext cx="6071781" cy="274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24898" y="263347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634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1821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B"/>
                </a:solidFill>
                <a:latin typeface="Calibri"/>
              </a:rPr>
              <a:t>Itau (Ion)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3236976"/>
            <a:ext cx="1867469" cy="274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38101" y="3236976"/>
            <a:ext cx="3501821" cy="27432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0506" y="320040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458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749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B"/>
                </a:solidFill>
                <a:latin typeface="Calibri"/>
              </a:rPr>
              <a:t>Banco Inter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3803904"/>
            <a:ext cx="221273" cy="274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91905" y="3803904"/>
            <a:ext cx="4579546" cy="274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98884" y="3803904"/>
            <a:ext cx="635783" cy="27432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5251" y="376732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466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645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"Gestora da casa" segue a mesma watchlist do radar CVM - a definicao e uma so.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Custo relativo a categoria e ticket de entrada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Indice 1,00x = exatamente a mediana da categoria de cada fundo; o que decide e a diferenca ENTRE as casas, nao a distancia de 1,00x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9601196" cy="1170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95939"/>
                <a:gridCol w="1669773"/>
                <a:gridCol w="1043608"/>
                <a:gridCol w="1147969"/>
                <a:gridCol w="1774134"/>
                <a:gridCol w="1669773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Indice mediano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Caros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Baratos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Resgate ate D+1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Ticket mediano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1.65x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R$ 50.000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1.50x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R$ 50.000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Banco 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1.57x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29992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Indice = taxa do fundo dividida pela mediana da MESMA categoria no universo de varejo da CVM. Nenhuma casa cobra 60% acima do mercado: a vitrine exibe a classe de varejo, que carrega a camada de distribuicao, e o universo inclui classes sem ela.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Movimentos desde a coleta anterior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Entradas e saidas por casa; coletas suspeitas nao geram churn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37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7865"/>
                <a:gridCol w="1177046"/>
                <a:gridCol w="1177046"/>
                <a:gridCol w="706228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Entradas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Saidas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Observacao / exemplos de entrada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xp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sem movimentos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sem movimentos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itau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sem movimentos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nu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sem movimentos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sem movimentos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Radar CVM - visao antecipada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Fundos registrados por gestoras ligadas as casas; pre-operacional = registrado e ainda nao lancado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6857998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17272"/>
                <a:gridCol w="1870363"/>
                <a:gridCol w="1870363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Registrados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Pre-operacionais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4.404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Banco 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Itau (Ion)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5.045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Nu (Nubank)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2.178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5844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0B0B"/>
                </a:solidFill>
                <a:latin typeface="Calibri"/>
              </a:rPr>
              <a:t>Registros pre-operacionais mais recentes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995928"/>
          <a:ext cx="11064239" cy="20482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23647"/>
                <a:gridCol w="1518621"/>
                <a:gridCol w="2820296"/>
                <a:gridCol w="1301675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2514E"/>
                          </a:solidFill>
                          <a:latin typeface="Calibri"/>
                        </a:rPr>
                        <a:t>Fundo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2514E"/>
                          </a:solidFill>
                          <a:latin typeface="Calibri"/>
                        </a:rPr>
                        <a:t>Gestora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2514E"/>
                          </a:solidFill>
                          <a:latin typeface="Calibri"/>
                        </a:rPr>
                        <a:t>Registro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XP CDI 94 CRA I FIAGRO RESPONSABILIDADE LIMITADA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XP VISTA ASSET MANAGEMENT LTDA.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2026-09-18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XP CDI 95 CRA I FIAGRO RESPONSABILIDADE LIMITADA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XP VISTA ASSET MANAGEMENT LTDA.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2026-09-18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XP CDI CRA FIAGRO RESPONSABILIDADE LIMITADA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XP VISTA ASSET MANAGEMENT LTDA.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2026-09-18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INDIANA II FUNDO DE INVESTIMENTO FINANCEIRO MULTIMERCADO CRÉDITO PRIVA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Itau (Ion)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ITAU UNIBANCO ASSET MANAGEMENT LTDA.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2026-09-18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BTG PACTUAL FEEDER I FUNDO DE INVESTIMENTO FINANCEIRO MULTIMERCADO CRÉ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BTG PACTUAL ASSET MANAGEMENT S/A DTVM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2026-09-18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XP STRATEGY FI FINANCEIRO MULTIMERCADO CRÉDITO PRIVADO PREVIDENCIÁRIO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XP GESTÃO DE RECURSOS LTDA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2026-09-18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Metodologia e proveniencia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Vitrine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371600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fundo presente no canal da propria casa (site, API do portal ou area logada). Open Finance = catalogo regulatorio, usado para enriquecer e como referencia.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3852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Perfil de varejo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938528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fundos exclusivos/restritos (3.602 nesta coleta) ficam fora de toda analise; o inventario deles esta na aba 'Restritos (auxiliar)' da planilha e no dashboard.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0545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Precedencia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505456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Open Finance &gt; area logada &gt; API do portal &gt; navegador &gt; HTML; fontes que faltam preenchem, nunca sobrescrevem.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7238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Normalizacao ANBIMA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072384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join com o registro oficial CVM por CNPJ e por codigo: 9167 de 13486 fundos identificaveis (68%); a gestora vem do registro em 9.166 deles.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3931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xp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639312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20/09/2026 - status ok; vitrine 664 de 781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06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btg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4206240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20/09/2026 - status ok; vitrine 634 de 10073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731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itau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773168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20/09/2026 - status ok; vitrine 458 de 2179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34009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nu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5340096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20/09/2026 - status ok; vitrine 0 de 468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0702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inter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5907024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20/09/2026 - status ok; vitrine 466 de 466; obs: fontes indisponiveis -&gt; open-finance: HTTP 500 em https://api.openbanking.bancointer.com.br/open-banking/opendata-invest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