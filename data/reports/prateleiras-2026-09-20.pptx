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920240"/>
            <a:ext cx="1463040" cy="5486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0B0B0B"/>
                </a:solidFill>
                <a:latin typeface="Calibri"/>
              </a:rPr>
              <a:t>Prateleiras de fundos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2514E"/>
                </a:solidFill>
                <a:latin typeface="Calibri"/>
              </a:rPr>
              <a:t>Leitura competitiva das vitrines de varejo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52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98781"/>
                </a:solidFill>
                <a:latin typeface="Calibri"/>
              </a:rPr>
              <a:t>Coleta de 20/09/2026 - casas: xp, btg, itau, nu, inter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A vitrine em numeros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Vitrine = a listagem que o cliente ve na casa; catalogo = tudo que ela administra (Open Finance)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XP INVESTIMENTOS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Calibri"/>
              </a:rPr>
              <a:t>664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catalogo: 773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64592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78308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BTG PACTUAL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14884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Calibri"/>
              </a:rPr>
              <a:t>634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78892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catalogo: 6.618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8308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ITAU (ION)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Calibri"/>
              </a:rPr>
              <a:t>458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78892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catalogo: 2.042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560" y="1645920"/>
            <a:ext cx="260604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78308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BANCO INTER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148840"/>
            <a:ext cx="2240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Calibri"/>
              </a:rPr>
              <a:t>466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78892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catalogo: 466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0B0B"/>
                </a:solidFill>
                <a:latin typeface="Calibri"/>
              </a:rPr>
              <a:t>Diferenciais na vitrine (por CNPJ)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4114800"/>
          <a:ext cx="594360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56616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Casa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Fundos de varejo que so ela oferta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Itau (Ion)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Matriz vitrine - casa x classe ANBIMA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Classificacao oficial (join por CNPJ com o registro CVM); mais escuro = mais fundos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36" cy="38039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17440"/>
                <a:gridCol w="1536699"/>
                <a:gridCol w="1536699"/>
                <a:gridCol w="1536699"/>
                <a:gridCol w="1536699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Classe ANBIMA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Itau (Ion)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Banco Inter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Ações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>
                    <a:solidFill>
                      <a:srgbClr val="184F9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114</a:t>
                      </a:r>
                    </a:p>
                  </a:txBody>
                  <a:tcPr>
                    <a:solidFill>
                      <a:srgbClr val="0D36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>
                    <a:solidFill>
                      <a:srgbClr val="256A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>
                    <a:solidFill>
                      <a:srgbClr val="0D366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>
                    <a:solidFill>
                      <a:srgbClr val="256A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>
                    <a:solidFill>
                      <a:srgbClr val="0D36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184F9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>
                    <a:solidFill>
                      <a:srgbClr val="256AB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Crédito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>
                    <a:solidFill>
                      <a:srgbClr val="0D36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>
                    <a:solidFill>
                      <a:srgbClr val="0D366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>
                    <a:solidFill>
                      <a:srgbClr val="256AB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Macro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3987E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Invest. no Exterior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Grau de Invest.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Ações Invest. no Exterior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Baixa Grau de Invest.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Estrat. Específica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Estruturado (sem classificacao ANBIMA)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6DA7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L/S - Direcional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9EC5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Dinâmico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CDE2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Gaps de prateleira - o que os concorrentes vitrinam e a XP nao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Fundo de varejo na vitrine de 1+ concorrente e fora da vitrine da XP (por CNPJ); o catalogo Open Finance nao conta em nenhum dos lados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2606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3619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FUNDOS DE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47088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0B0B"/>
                </a:solidFill>
                <a:latin typeface="Calibri"/>
              </a:rPr>
              <a:t>618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fora da vitrine XP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17320"/>
            <a:ext cx="2606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53619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EM 2+ VITRINES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847088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0B0B"/>
                </a:solidFill>
                <a:latin typeface="Calibri"/>
              </a:rPr>
              <a:t>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3774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mais de uma casa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17320"/>
            <a:ext cx="26060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36192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52514E"/>
                </a:solidFill>
                <a:latin typeface="Calibri"/>
              </a:rPr>
              <a:t>VITRINE DA XP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47088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0B0B"/>
                </a:solidFill>
                <a:latin typeface="Calibri"/>
              </a:rPr>
              <a:t>664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7744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base de comparacao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0B0B"/>
                </a:solidFill>
                <a:latin typeface="Calibri"/>
              </a:rPr>
              <a:t>Maiores gaps (por presenca)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48640" y="3200400"/>
          <a:ext cx="6857998" cy="26334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76292"/>
                <a:gridCol w="1421780"/>
                <a:gridCol w="1170878"/>
                <a:gridCol w="836341"/>
                <a:gridCol w="752707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Fundo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Categoria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Casas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Menor min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Menor taxa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 YIELD DI FI RF REF 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Grau de Invest.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 CRED CORP I FIQ DE FI RF CP 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Crédito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R$ 500.000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ABSOLUTE HIDRA CDI FIC FIRF RF INVES EM INFRA 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Baixa Grau de Invest.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ABSOLUTE PACE LONG BIASED FIC DE FIA 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Ações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SOLIS CAPITAL ANTARES CP FIC DE FIM 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Crédito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Itau (Ion)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R$ 1.000.000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INTER CONSERVADOR FUNDO DE INVESTIMENTO RF 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Baixa Grau de Invest.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Root Capital High Yield FICFIM CrPr RL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Macro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R$ 5.000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1,45%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AZ QUEST LUCE FIC FI RF CP 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Grau de Invest.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Pactual, 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0,01%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680960" y="283464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0B0B"/>
                </a:solidFill>
                <a:latin typeface="Calibri"/>
              </a:rPr>
              <a:t>Categorias em deficit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7680960" y="3200400"/>
          <a:ext cx="3931920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457200"/>
                <a:gridCol w="1280160"/>
                <a:gridCol w="54864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Categoria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XP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Melhor conc.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Gaps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Ações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 (114)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 (99)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Renda Fixa Duração Livre Crédito Livre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 (105)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Macro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Banco Inter (53)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Multimercados Invest. no Exterior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 Pactual (45)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898781"/>
                </a:solidFill>
                <a:latin typeface="Calibri"/>
              </a:rPr>
              <a:t>Fora do universo: Nu (Nubank) (sem vitrine publica coletada; o catalogo Open Finance nao conta como oferta). Lista completa na planilha (aba Gaps XP).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Arquitetura aberta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Produto de gestora da propria casa vs. de terceiros, na vitrine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64592" cy="1645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34416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Gestora da casa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1417320"/>
            <a:ext cx="164592" cy="164592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82112" y="134416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Terceiros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1417320"/>
            <a:ext cx="164592" cy="164592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552" y="134416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Sem gestor identificado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048255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B0B0B"/>
                </a:solidFill>
                <a:latin typeface="Calibri"/>
              </a:rPr>
              <a:t>XP Investimentos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2103120"/>
            <a:ext cx="1239783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10415" y="2103120"/>
            <a:ext cx="6249428" cy="2743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287275" y="2103120"/>
            <a:ext cx="292332" cy="2743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80192" y="2066543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664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1518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B0B0B"/>
                </a:solidFill>
                <a:latin typeface="Calibri"/>
              </a:rPr>
              <a:t>BTG Pactual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2670048"/>
            <a:ext cx="1381900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52532" y="2670048"/>
            <a:ext cx="6071781" cy="2743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24898" y="26334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634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1821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B0B0B"/>
                </a:solidFill>
                <a:latin typeface="Calibri"/>
              </a:rPr>
              <a:t>Itau (Ion)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3236976"/>
            <a:ext cx="1867469" cy="2743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8101" y="3236976"/>
            <a:ext cx="3501821" cy="2743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40506" y="320040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458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749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B0B0B"/>
                </a:solidFill>
                <a:latin typeface="Calibri"/>
              </a:rPr>
              <a:t>Banco Inter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3803904"/>
            <a:ext cx="221273" cy="27432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91905" y="3803904"/>
            <a:ext cx="4579546" cy="2743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598884" y="3803904"/>
            <a:ext cx="635783" cy="2743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5251" y="376732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2514E"/>
                </a:solidFill>
                <a:latin typeface="Calibri"/>
              </a:rPr>
              <a:t>466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645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"Gestora da casa" segue a mesma watchlist do radar CVM - a definicao e uma so.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Custo e ticket de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Quartis da taxa de administracao e mediana do minimo - quartis mostram a forma da prateleira; media esconderia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9601199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14600"/>
                <a:gridCol w="1143000"/>
                <a:gridCol w="1371600"/>
                <a:gridCol w="1143000"/>
                <a:gridCol w="1828800"/>
                <a:gridCol w="1600199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Casa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Taxa q1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Taxa mediana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Taxa q3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Minimo mediano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Cobertura CNPJ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0,01%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0,01%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0,02%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0,01%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0,02%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0,08%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R$ 50.000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Itau (Ion)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0,80%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1,40%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R$ 500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29183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Calibri"/>
              </a:rPr>
              <a:t>Taxa e a maxima publicada pela casa (mesma semantica do maxAdminFee do Open Finance). Celulas vazias = a fonte nao publica o campo.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Movimentos desde a coleta anterior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Entradas e saidas por casa; coletas suspeitas nao geram churn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37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7865"/>
                <a:gridCol w="1177046"/>
                <a:gridCol w="1177046"/>
                <a:gridCol w="706228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Casa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Entradas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Saidas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2514E"/>
                          </a:solidFill>
                          <a:latin typeface="Calibri"/>
                        </a:rPr>
                        <a:t>Observacao / exemplos de entrada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xp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movimentos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btg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movimentos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itau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movimentos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nu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movimentos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B0B0B"/>
                          </a:solidFill>
                          <a:latin typeface="Calibri"/>
                        </a:rPr>
                        <a:t>sem movimentos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Radar CVM - visao antecipada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2514E"/>
                </a:solidFill>
                <a:latin typeface="Calibri"/>
              </a:rPr>
              <a:t>Fundos registrados por gestoras ligadas as casas; pre-operacional = registrado e ainda nao lancado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6857998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17272"/>
                <a:gridCol w="1870363"/>
                <a:gridCol w="1870363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Casa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Registrados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52514E"/>
                          </a:solidFill>
                          <a:latin typeface="Calibri"/>
                        </a:rPr>
                        <a:t>Pre-operacionais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4.404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Banco 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Itau (Ion)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5.045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Nu (Nubank)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2.178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58444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0B0B"/>
                </a:solidFill>
                <a:latin typeface="Calibri"/>
              </a:rPr>
              <a:t>Registros pre-operacionais mais recentes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995928"/>
          <a:ext cx="11064239" cy="20482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23647"/>
                <a:gridCol w="1518621"/>
                <a:gridCol w="2820296"/>
                <a:gridCol w="1301675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  <a:latin typeface="Calibri"/>
                        </a:rPr>
                        <a:t>Fundo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  <a:latin typeface="Calibri"/>
                        </a:rPr>
                        <a:t>Casa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  <a:latin typeface="Calibri"/>
                        </a:rPr>
                        <a:t>Gestora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52514E"/>
                          </a:solidFill>
                          <a:latin typeface="Calibri"/>
                        </a:rPr>
                        <a:t>Registro</a:t>
                      </a:r>
                    </a:p>
                  </a:txBody>
                  <a:tcPr>
                    <a:solidFill>
                      <a:srgbClr val="F1F0E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CDI 94 CRA I FIAGRO RESPONSABILIDADE LIMITADA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VISTA ASSET MANAGEMENT LTDA.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2026-09-18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CDI 95 CRA I FIAGRO RESPONSABILIDADE LIMITADA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VISTA ASSET MANAGEMENT LTDA.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2026-09-18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CDI CRA FIAGRO RESPONSABILIDADE LIMITADA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VISTA ASSET MANAGEMENT LTDA.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2026-09-18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INDIANA II FUNDO DE INVESTIMENTO FINANCEIRO MULTIMERCADO CRÉDITO PRIVA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Itau (Ion)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ITAU UNIBANCO ASSET MANAGEMENT LTDA.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2026-09-18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BTG PACTUAL FEEDER I FUNDO DE INVESTIMENTO FINANCEIRO MULTIMERCADO CRÉ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BTG Pactual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BTG PACTUAL ASSET MANAGEMENT S/A DTVM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2026-09-18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STRATEGY FI FINANCEIRO MULTIMERCADO CRÉDITO PRIVADO PREVIDENCIÁRIO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Investimentos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XP GESTÃO DE RECURSOS LTDA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B0B0B"/>
                          </a:solidFill>
                          <a:latin typeface="Calibri"/>
                        </a:rPr>
                        <a:t>2026-09-18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B0B0B"/>
                </a:solidFill>
                <a:latin typeface="Calibri"/>
              </a:rPr>
              <a:t>Metodologia e proveniencia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Vitrine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371600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fundo presente no canal da propria casa (site, API do portal ou area logada). Open Finance = catalogo regulatorio, usado para enriquecer e como referencia.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385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Perfil de varejo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938528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fundos exclusivos/restritos (3.602 nesta coleta) ficam fora de toda analise; o inventario deles esta na aba 'Restritos (auxiliar)' da planilha e no dashboard.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0545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Precedencia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05456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Open Finance &gt; area logada &gt; API do portal &gt; navegador &gt; HTML; fontes que faltam preenchem, nunca sobrescrevem.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7238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Normalizacao ANBIMA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072384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join com o registro oficial CVM por CNPJ e por codigo: 9167 de 13486 fundos identificaveis (68%); a gestora vem do registro em 9.166 deles.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3931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xp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639312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20/09/2026 - status ok; vitrine 664 de 781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06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btg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4206240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20/09/2026 - status ok; vitrine 634 de 10073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77316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itau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4773168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20/09/2026 - status ok; vitrine 458 de 2179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4009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nu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5340096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20/09/2026 - status ok; vitrine 0 de 468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0702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2514E"/>
                </a:solidFill>
                <a:latin typeface="Calibri"/>
              </a:rPr>
              <a:t>inter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5907024"/>
            <a:ext cx="8778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B0B0B"/>
                </a:solidFill>
                <a:latin typeface="Calibri"/>
              </a:rPr>
              <a:t>20/09/2026 - status ok; vitrine 466 de 466; obs: fontes indisponiveis -&gt; open-finance: HTTP 500 em https://api.openbanking.bancointer.com.br/open-banking/opendata-invest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