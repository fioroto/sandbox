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xpi.com.br/investimentos/fundos-de-investimento/lista/" TargetMode="External"/><Relationship Id="rId3" Type="http://schemas.openxmlformats.org/officeDocument/2006/relationships/hyperlink" Target="https://investimentos.btgpactual.com/fundos-de-investimento/produtos" TargetMode="External"/><Relationship Id="rId4" Type="http://schemas.openxmlformats.org/officeDocument/2006/relationships/hyperlink" Target="https://www.itau.com.br/investimentos/fundos/rentabilidade" TargetMode="External"/><Relationship Id="rId5" Type="http://schemas.openxmlformats.org/officeDocument/2006/relationships/hyperlink" Target="https://inter.co/pra-voce/investimentos/fundos-de-investimento/" TargetMode="External"/><Relationship Id="rId6" Type="http://schemas.openxmlformats.org/officeDocument/2006/relationships/hyperlink" Target="https://openfinancebrasil.atlassian.net/wiki/spaces/OF/overview" TargetMode="External"/><Relationship Id="rId7" Type="http://schemas.openxmlformats.org/officeDocument/2006/relationships/hyperlink" Target="https://dados.cvm.gov.br/dataset/fi-cad" TargetMode="External"/><Relationship Id="rId8" Type="http://schemas.openxmlformats.org/officeDocument/2006/relationships/hyperlink" Target="https://dados.cvm.gov.br/dataset/fi-doc-inf_diario" TargetMode="External"/><Relationship Id="rId9" Type="http://schemas.openxmlformats.org/officeDocument/2006/relationships/hyperlink" Target="https://dados.cvm.gov.br/dataset/fi-doc-extrato" TargetMode="External"/><Relationship Id="rId10" Type="http://schemas.openxmlformats.org/officeDocument/2006/relationships/hyperlink" Target="https://dados.cvm.gov.br/dataset/fi-doc-cd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Prateleiras de fundos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27/09/2026 -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vê na casa; catálogo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775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6.660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ITAÚ (ÍON)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2.045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só nesta vitrine (por CNPJ)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114800"/>
          <a:ext cx="5943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5661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Fundos de varejo que só ela oferta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Classificação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6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17440"/>
                <a:gridCol w="1536699"/>
                <a:gridCol w="1536699"/>
                <a:gridCol w="1536699"/>
                <a:gridCol w="1536699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Estruturado (sem classificação ANBIMA)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L/S - Direcional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Dinâmico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Gaps de prateleira - o que os concorrentes vitrinam e a XP não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621 gaps aparentes: 60 já cobertos por espelho ou equivalente, 14 só em outra liquidez - 547 gaps reais (carteira da CVM de ago/2026)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GAPS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547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sem espelho nem equivalente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JÁ COBERTOS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de 621 gaps aparentes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OUTRA LIQUIDEZ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a XP tem a estratégia em outro D+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Maiores gaps (pelo que dá para fechar)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00400"/>
          <a:ext cx="685800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371600"/>
                <a:gridCol w="1097280"/>
                <a:gridCol w="91440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Captação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Esforço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Safra Inteligencia Artificial 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+783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Mapfre Confianza Plus FIRF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+320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Kinea Atacama FIRF RL Subclasse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+112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 Artax Endurance Dist. FICFIM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+84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V8 Mercury FIRF LP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HIDRA IPCA NTNB35 FIF EM COTAS DE FUNDOS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Regia Equilibrio 30 FIRF IS 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Ibiuna LS IB FIA RL - Subclasse Ibiuna Long Short Acoes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+41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80960" y="2834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Categorias em déficit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80960" y="3200400"/>
          <a:ext cx="39319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57200"/>
                <a:gridCol w="1280160"/>
                <a:gridCol w="5486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Melhor conc.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 (52)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98781"/>
                </a:solidFill>
                <a:latin typeface="Calibri"/>
              </a:rPr>
              <a:t>Fora do universo: Nu (Nubank) (sem vitrine pública coletada; o catálogo Open Finance não conta como oferta). Espelho e equivalência pela carteira mensal da CVM de ago/2026. Lista completa na planilha (abas Gaps XP e Gaps cobertos).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própria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1216096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86728" y="2103120"/>
            <a:ext cx="6261271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75432" y="2103120"/>
            <a:ext cx="304175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80192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670048"/>
            <a:ext cx="1381900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52532" y="2670048"/>
            <a:ext cx="6095467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48584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Itaú (íon)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236976"/>
            <a:ext cx="1867469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8101" y="3236976"/>
            <a:ext cx="3501821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0506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Banco Inter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803904"/>
            <a:ext cx="22127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91905" y="3803904"/>
            <a:ext cx="4615075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4413" y="3803904"/>
            <a:ext cx="600254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5251" y="37673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45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definição é uma só.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Custo relativo à categoria e 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Índice 1,00x = exatamente a mediana da categoria de cada fundo; o que decide é a diferença ENTRE as casas, não a distância de 1,00x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6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5939"/>
                <a:gridCol w="1669773"/>
                <a:gridCol w="1043608"/>
                <a:gridCol w="1147969"/>
                <a:gridCol w="1774134"/>
                <a:gridCol w="166977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Índice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Caros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Baratos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Resgate até D+1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Ticket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1.65x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R$ 500,95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9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Índice = taxa do fundo dividida pela mediana da MESMA categoria no universo de varejo da CVM. Nenhuma casa cobra 60% acima do mercado: a vitrine exibe a classe de varejo, que carrega a camada de distribuição, e o universo inclui classes sem ela.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Captação dos fundos de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Informe diário da CVM, de 01/07/2026 a 25/09/2026 - fluxo do fundo no mercado inteiro, não só o que entrou por cada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Captação líquida dos fundos da vitrine de 01/07/2026 a 25/09/2026: XP Investimentos -R$ 1,6 bi (-0,49% do PL de início), BTG Pactual +R$ 2,4 bi (+0,62%). Maior captação entre as casas: BTG Pactual.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Fundos que outra casa também exibe: XP Investimentos +R$ 1,4 bi, BTG Pactual +R$ 586 mi. Fundos que só a própria casa exibe: XP Investimentos -R$ 3,0 bi, BTG Pactual +R$ 1,8 bi.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Por família de ativo, a diferença entre XP Investimentos e BTG Pactual (-R$ 4,0 bi) vem de Renda Fixa (-R$ 2,6 bi) e Multimercados (-R$ 1,8 bi); Ações vai no sentido contrário (+R$ 412 mi).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Fundos da gestora da própria casa: XP Investimentos -R$ 361 mi, BTG Pactual +R$ 2,9 bi. De terceiros: XP Investimentos -R$ 1,2 bi, BTG Pactual -R$ 464 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Por família de ativo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23360"/>
          <a:ext cx="1106423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9609"/>
                <a:gridCol w="2032207"/>
                <a:gridCol w="2032207"/>
                <a:gridCol w="2032207"/>
                <a:gridCol w="2258008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Família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Todas as vitrines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+4.531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+1.977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+697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+3.489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Cambial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-1.355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-943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-1.545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-1.923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-832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-2.586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-2.144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-4.151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saídas na vitrine de varejo; coletas suspeitas não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4093"/>
                <a:gridCol w="1177046"/>
                <a:gridCol w="1177046"/>
                <a:gridCol w="635605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Saídas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Observação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Legacy Capital V10 Master FIF CIC Multimercado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Crédito Corporativo Plus Seleção Subclasse 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Radar CVM - visão antecipada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Fundos registrados por gestoras ligadas às casas; pré-operacional = registrado e ainda não lançado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85799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7272"/>
                <a:gridCol w="1870363"/>
                <a:gridCol w="187036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Registrados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Pré-operacionais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4.414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84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Registros pré-operacionais mais recentes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95928"/>
          <a:ext cx="11064239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3647"/>
                <a:gridCol w="1518621"/>
                <a:gridCol w="2820296"/>
                <a:gridCol w="1301675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Gestora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Registro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BAHIA AM UNA SELEÇAO FIF CIC MULTIMERCADO RESP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NOVO FC DE FUNDOS INCENTIVADOS DE INVESTIMENTO FINANCEIRO EM INFR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ACS V8 MERCURY PREVIDÊNCIA FIF EM COTAS DE FUNDOS DE INVESTIMENTO 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 GESTÃO E CONSULTORIA DE INVE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BRIGHTON KINEA FIF - FUNDO INCENTIVADO EM INVESTIMENTO EM DEB DE INFRA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KINEA INVESTIMENTOS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VÉRTICE PREV DUAL GLOBAL FIF MULT CP RESP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GOLD OIL SFA FIF RENDA FIXA CRÉDITO PRIVADO RESP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própria casa (site, API do portal ou área logada). Open Finance = catálogo regulatório, usado para enriquecer e como referência.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(3.645 nesta coleta) ficam fora de toda análise; o inventário deles está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área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Normalização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código: 9.255 de 13.576 fundos identificáveis (68%); a gestora vem do registro em 9.253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664 de 783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636 de 10.160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Itaú (íon)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458 de 2.180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 (Nubank)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0 de 468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90702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466 de 466; obs: fontes indisponíveis -&gt; open-finance: HTTP 500 em https://api.openbanking.bancointer.com.br/open-banking/opendata-invest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Onde conferir cada número - clique no nome para abrir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2"/>
              </a:rPr>
              <a:t>Vitrine - XP Investimentos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https://www.xpi.com.br/investimentos/fundos-de-investimento/lista/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3"/>
              </a:rPr>
              <a:t>Vitrine - BTG Pactual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https://investimentos.btgpactual.com/fundos-de-investimento/produtos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054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4"/>
              </a:rPr>
              <a:t>Vitrine - Itaú (íon)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https://www.itau.com.br/investimentos/fundos/rentabilidade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5"/>
              </a:rPr>
              <a:t>Vitrine - Banco Inter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https://inter.co/pra-voce/investimentos/fundos-de-investimento/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6"/>
              </a:rPr>
              <a:t>Open Finance Brasil - dados abertos de investimentos</a:t>
            </a:r>
            <a:r>
              <a:rPr sz="1100">
                <a:latin typeface="Calibri"/>
              </a:rPr>
              <a:t> - catálogo de fundos que cada instituição administra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https://openfinancebrasil.atlassian.net/wiki/spaces/OF/overview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7"/>
              </a:rPr>
              <a:t>Cadastro de fundos da CVM</a:t>
            </a:r>
            <a:r>
              <a:rPr sz="1100">
                <a:latin typeface="Calibri"/>
              </a:rPr>
              <a:t> - classificação ANBIMA, gestora, situação e o radar de registros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https://dados.cvm.gov.br/dataset/fi-cad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7316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8"/>
              </a:rPr>
              <a:t>Informe diário de fundos da CVM</a:t>
            </a:r>
            <a:r>
              <a:rPr sz="1100">
                <a:latin typeface="Calibri"/>
              </a:rPr>
              <a:t> - captação, resgates, patrimônio, cotistas e cota (rentabilidade)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474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https://dados.cvm.gov.br/dataset/fi-doc-inf_diario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009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9"/>
              </a:rPr>
              <a:t>Extrato de informações de fundos da CVM</a:t>
            </a:r>
            <a:r>
              <a:rPr sz="1100">
                <a:latin typeface="Calibri"/>
              </a:rPr>
              <a:t> - taxa de administração, mandato e condições de resgate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144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https://dados.cvm.gov.br/dataset/fi-doc-extrato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0702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10"/>
              </a:rPr>
              <a:t>Composição da carteira (CDA) da CVM</a:t>
            </a:r>
            <a:r>
              <a:rPr sz="1100">
                <a:latin typeface="Calibri"/>
              </a:rPr>
              <a:t> - espelho, master e perfil de carteira das famílias de estratégia (gaps da XP)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8134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https://dados.cvm.gov.br/dataset/fi-doc-cda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